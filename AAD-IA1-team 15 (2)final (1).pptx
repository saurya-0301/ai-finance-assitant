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5" r:id="rId4"/>
    <p:sldId id="264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80" r:id="rId18"/>
    <p:sldId id="279" r:id="rId19"/>
    <p:sldId id="260" r:id="rId20"/>
    <p:sldId id="281" r:id="rId21"/>
    <p:sldId id="261" r:id="rId22"/>
    <p:sldId id="282" r:id="rId23"/>
    <p:sldId id="283" r:id="rId24"/>
    <p:sldId id="263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EEF"/>
    <a:srgbClr val="193B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408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063DF40-A8A3-4DA3-BD7C-9127AEC766A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CAB86D0-B768-4562-89BC-E8787C2A996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23D7F70-3C44-4A10-B402-237D081EF68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C37DAC8-FAEE-4EBF-9802-8F4C1CDBA59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24F67EE-8DD9-4074-B7FD-52ECB918F0F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flipV="1">
            <a:off x="0" y="-237847"/>
            <a:ext cx="9144000" cy="42665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6A4F2C6-3A16-428D-8890-8CD81BD7772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1C45B1E-3714-436F-A336-26E1E49CD898}" type="slidenum">
              <a:rPr lang="en-US" smtClean="0">
                <a:solidFill>
                  <a:prstClr val="white"/>
                </a:solidFill>
              </a:rPr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1"/>
            <a:ext cx="308113" cy="365125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314325" y="365126"/>
            <a:ext cx="222388" cy="244475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59027" y="616918"/>
            <a:ext cx="155299" cy="2103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ABE1673-0D0B-4441-9CB1-B21E39A3144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214C546-1FC5-4073-85DF-A5463AB3A4F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58E50A4-9416-4E34-AD0E-4D28205B3AB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F098787-47D2-48A9-9C71-66F5A7452A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pic" sz="half" idx="13"/>
          </p:nvPr>
        </p:nvSpPr>
        <p:spPr>
          <a:xfrm>
            <a:off x="4723805" y="446484"/>
            <a:ext cx="3750469" cy="578643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/>
        </p:txBody>
      </p:sp>
      <p:sp>
        <p:nvSpPr>
          <p:cNvPr id="39" name="Shape 39"/>
          <p:cNvSpPr>
            <a:spLocks noGrp="1"/>
          </p:cNvSpPr>
          <p:nvPr>
            <p:ph type="title" hasCustomPrompt="1"/>
          </p:nvPr>
        </p:nvSpPr>
        <p:spPr>
          <a:xfrm>
            <a:off x="669727" y="446484"/>
            <a:ext cx="3750469" cy="2803922"/>
          </a:xfrm>
          <a:prstGeom prst="rect">
            <a:avLst/>
          </a:prstGeom>
        </p:spPr>
        <p:txBody>
          <a:bodyPr anchor="b"/>
          <a:lstStyle>
            <a:lvl1pPr>
              <a:defRPr sz="3165"/>
            </a:lvl1pPr>
          </a:lstStyle>
          <a:p>
            <a:r>
              <a:t>Title Text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sz="quarter" idx="1" hasCustomPrompt="1"/>
          </p:nvPr>
        </p:nvSpPr>
        <p:spPr>
          <a:xfrm>
            <a:off x="669727" y="3348634"/>
            <a:ext cx="3750469" cy="2884289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690"/>
            </a:lvl1pPr>
            <a:lvl2pPr marL="0" indent="120650" algn="ctr">
              <a:spcBef>
                <a:spcPts val="0"/>
              </a:spcBef>
              <a:buSzTx/>
              <a:buNone/>
              <a:defRPr sz="1690"/>
            </a:lvl2pPr>
            <a:lvl3pPr marL="0" indent="241300" algn="ctr">
              <a:spcBef>
                <a:spcPts val="0"/>
              </a:spcBef>
              <a:buSzTx/>
              <a:buNone/>
              <a:defRPr sz="1690"/>
            </a:lvl3pPr>
            <a:lvl4pPr marL="0" indent="361950" algn="ctr">
              <a:spcBef>
                <a:spcPts val="0"/>
              </a:spcBef>
              <a:buSzTx/>
              <a:buNone/>
              <a:defRPr sz="1690"/>
            </a:lvl4pPr>
            <a:lvl5pPr marL="0" indent="481965" algn="ctr">
              <a:spcBef>
                <a:spcPts val="0"/>
              </a:spcBef>
              <a:buSzTx/>
              <a:buNone/>
              <a:defRPr sz="169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xfrm>
            <a:off x="4437983" y="6505278"/>
            <a:ext cx="259105" cy="26789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>
                <a:solidFill>
                  <a:prstClr val="white"/>
                </a:solidFill>
              </a:rPr>
            </a:fld>
            <a:endParaRPr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311701" y="842402"/>
            <a:ext cx="2807999" cy="10075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1800"/>
            </a:lvl1pPr>
            <a:lvl2pPr lvl="1">
              <a:spcBef>
                <a:spcPts val="0"/>
              </a:spcBef>
              <a:buSzPct val="100000"/>
              <a:defRPr sz="1800"/>
            </a:lvl2pPr>
            <a:lvl3pPr lvl="2">
              <a:spcBef>
                <a:spcPts val="0"/>
              </a:spcBef>
              <a:buSzPct val="100000"/>
              <a:defRPr sz="1800"/>
            </a:lvl3pPr>
            <a:lvl4pPr lvl="3">
              <a:spcBef>
                <a:spcPts val="0"/>
              </a:spcBef>
              <a:buSzPct val="100000"/>
              <a:defRPr sz="1800"/>
            </a:lvl4pPr>
            <a:lvl5pPr lvl="4">
              <a:spcBef>
                <a:spcPts val="0"/>
              </a:spcBef>
              <a:buSzPct val="100000"/>
              <a:defRPr sz="1800"/>
            </a:lvl5pPr>
            <a:lvl6pPr lvl="5">
              <a:spcBef>
                <a:spcPts val="0"/>
              </a:spcBef>
              <a:buSzPct val="100000"/>
              <a:defRPr sz="1800"/>
            </a:lvl6pPr>
            <a:lvl7pPr lvl="6">
              <a:spcBef>
                <a:spcPts val="0"/>
              </a:spcBef>
              <a:buSzPct val="100000"/>
              <a:defRPr sz="1800"/>
            </a:lvl7pPr>
            <a:lvl8pPr lvl="7">
              <a:spcBef>
                <a:spcPts val="0"/>
              </a:spcBef>
              <a:buSzPct val="100000"/>
              <a:defRPr sz="1800"/>
            </a:lvl8pPr>
            <a:lvl9pPr lvl="8">
              <a:spcBef>
                <a:spcPts val="0"/>
              </a:spcBef>
              <a:buSzPct val="100000"/>
              <a:defRPr sz="1800"/>
            </a:lvl9pPr>
          </a:lstStyle>
          <a:p/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311701" y="2157604"/>
            <a:ext cx="2807999" cy="393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900"/>
            </a:lvl1pPr>
            <a:lvl2pPr lvl="1">
              <a:spcBef>
                <a:spcPts val="0"/>
              </a:spcBef>
              <a:buSzPct val="100000"/>
              <a:defRPr sz="900"/>
            </a:lvl2pPr>
            <a:lvl3pPr lvl="2">
              <a:spcBef>
                <a:spcPts val="0"/>
              </a:spcBef>
              <a:buSzPct val="100000"/>
              <a:defRPr sz="900"/>
            </a:lvl3pPr>
            <a:lvl4pPr lvl="3">
              <a:spcBef>
                <a:spcPts val="0"/>
              </a:spcBef>
              <a:buSzPct val="100000"/>
              <a:defRPr sz="900"/>
            </a:lvl4pPr>
            <a:lvl5pPr lvl="4">
              <a:spcBef>
                <a:spcPts val="0"/>
              </a:spcBef>
              <a:buSzPct val="100000"/>
              <a:defRPr sz="900"/>
            </a:lvl5pPr>
            <a:lvl6pPr lvl="5">
              <a:spcBef>
                <a:spcPts val="0"/>
              </a:spcBef>
              <a:buSzPct val="100000"/>
              <a:defRPr sz="900"/>
            </a:lvl6pPr>
            <a:lvl7pPr lvl="6">
              <a:spcBef>
                <a:spcPts val="0"/>
              </a:spcBef>
              <a:buSzPct val="100000"/>
              <a:defRPr sz="900"/>
            </a:lvl7pPr>
            <a:lvl8pPr lvl="7">
              <a:spcBef>
                <a:spcPts val="0"/>
              </a:spcBef>
              <a:buSzPct val="100000"/>
              <a:defRPr sz="900"/>
            </a:lvl8pPr>
            <a:lvl9pPr lvl="8">
              <a:spcBef>
                <a:spcPts val="0"/>
              </a:spcBef>
              <a:buSzPct val="100000"/>
              <a:defRPr sz="900"/>
            </a:lvl9pPr>
          </a:lstStyle>
          <a:p/>
        </p:txBody>
      </p:sp>
      <p:sp>
        <p:nvSpPr>
          <p:cNvPr id="37" name="Shape 37"/>
          <p:cNvSpPr txBox="1">
            <a:spLocks noGrp="1"/>
          </p:cNvSpPr>
          <p:nvPr>
            <p:ph type="sldNum" idx="12"/>
          </p:nvPr>
        </p:nvSpPr>
        <p:spPr>
          <a:xfrm>
            <a:off x="8472458" y="6217621"/>
            <a:ext cx="548699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en-GB" smtClean="0">
                <a:solidFill>
                  <a:prstClr val="white"/>
                </a:solidFill>
              </a:rPr>
            </a:fld>
            <a:endParaRPr lang="en-GB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7" y="351211"/>
            <a:ext cx="8382000" cy="553998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1" y="1411553"/>
            <a:ext cx="8382000" cy="221086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75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 hasCustomPrompt="1"/>
          </p:nvPr>
        </p:nvSpPr>
        <p:spPr>
          <a:xfrm>
            <a:off x="669727" y="312540"/>
            <a:ext cx="7804547" cy="1518047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xfrm>
            <a:off x="4437983" y="6505278"/>
            <a:ext cx="259105" cy="26789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>
                <a:solidFill>
                  <a:prstClr val="white"/>
                </a:solidFill>
              </a:rPr>
            </a:fld>
            <a:endParaRPr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3429002"/>
            <a:ext cx="9144000" cy="3428999"/>
          </a:xfrm>
          <a:prstGeom prst="rect">
            <a:avLst/>
          </a:prstGeom>
          <a:solidFill>
            <a:srgbClr val="5853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0" y="2"/>
            <a:ext cx="9144000" cy="3428999"/>
          </a:xfrm>
          <a:prstGeom prst="rect">
            <a:avLst/>
          </a:prstGeom>
          <a:solidFill>
            <a:srgbClr val="ADB2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1" y="0"/>
            <a:ext cx="7043208" cy="152349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405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6" y="4344989"/>
            <a:ext cx="7043208" cy="4616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22050" y="2355850"/>
            <a:ext cx="7690114" cy="1384994"/>
          </a:xfrm>
          <a:prstGeom prst="rect">
            <a:avLst/>
          </a:prstGeom>
        </p:spPr>
        <p:txBody>
          <a:bodyPr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anose="020B0604020202090204" pitchFamily="34" charset="0"/>
              <a:buNone/>
              <a:defRPr kumimoji="0" lang="en-US" sz="7500" b="1" i="1" u="none" strike="noStrike" kern="1200" cap="none" spc="-48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"/>
            <a:ext cx="7886700" cy="81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2767" y="117520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1"/>
            <a:ext cx="308113" cy="365125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314325" y="365126"/>
            <a:ext cx="222388" cy="244475"/>
          </a:xfrm>
          <a:prstGeom prst="rect">
            <a:avLst/>
          </a:prstGeom>
          <a:solidFill>
            <a:srgbClr val="193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1" y="6492876"/>
            <a:ext cx="9144000" cy="365125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 flipV="1">
            <a:off x="626821" y="584452"/>
            <a:ext cx="8517179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-1" y="6590108"/>
            <a:ext cx="9144001" cy="267893"/>
          </a:xfrm>
          <a:prstGeom prst="rect">
            <a:avLst/>
          </a:prstGeom>
          <a:solidFill>
            <a:srgbClr val="193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24074" y="6492875"/>
            <a:ext cx="2894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pPr defTabSz="342900"/>
            <a:fld id="{01C45B1E-3714-436F-A336-26E1E49CD898}" type="slidenum">
              <a:rPr lang="en-US" smtClean="0">
                <a:solidFill>
                  <a:prstClr val="white"/>
                </a:solidFill>
              </a:rPr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159027" y="616918"/>
            <a:ext cx="155299" cy="2103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9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8134672" cy="1442591"/>
          </a:xfrm>
        </p:spPr>
        <p:txBody>
          <a:bodyPr>
            <a:normAutofit fontScale="90000"/>
          </a:bodyPr>
          <a:lstStyle/>
          <a:p>
            <a:r>
              <a:rPr lang="en-IN" sz="3100" b="1" dirty="0">
                <a:solidFill>
                  <a:schemeClr val="tx1"/>
                </a:solidFill>
              </a:rPr>
              <a:t>&lt;Team #15&gt;</a:t>
            </a:r>
            <a:br>
              <a:rPr lang="en-IN" sz="3100" b="1" dirty="0">
                <a:solidFill>
                  <a:schemeClr val="tx1"/>
                </a:solidFill>
              </a:rPr>
            </a:br>
            <a:br>
              <a:rPr lang="en-IN" sz="3100" b="1" dirty="0">
                <a:solidFill>
                  <a:schemeClr val="tx1"/>
                </a:solidFill>
              </a:rPr>
            </a:br>
            <a:r>
              <a:rPr lang="en-IN" b="1" dirty="0">
                <a:latin typeface="Algerian" panose="04020705040A02060702" pitchFamily="82" charset="0"/>
              </a:rPr>
              <a:t>AI-Finance Platform</a:t>
            </a:r>
            <a:br>
              <a:rPr lang="en-IN" b="1" dirty="0">
                <a:latin typeface="Algerian" panose="04020705040A02060702" pitchFamily="82" charset="0"/>
              </a:rPr>
            </a:br>
            <a:br>
              <a:rPr lang="en-IN" b="1" dirty="0">
                <a:latin typeface="Algerian" panose="04020705040A02060702" pitchFamily="82" charset="0"/>
              </a:rPr>
            </a:br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Transform the way you manage, invest, and grow — powered by AI.</a:t>
            </a:r>
            <a:r>
              <a:rPr lang="en-IN" sz="2000" b="1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endParaRPr lang="en-IN" sz="2000" b="1" dirty="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809240" y="4498975"/>
            <a:ext cx="3048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R23EA110- Saurya Anand</a:t>
            </a:r>
            <a:endParaRPr lang="en-US"/>
          </a:p>
          <a:p>
            <a:r>
              <a:rPr lang="en-US"/>
              <a:t>R23EA121-Srinivas RC</a:t>
            </a:r>
            <a:endParaRPr lang="en-US"/>
          </a:p>
          <a:p>
            <a:r>
              <a:rPr lang="en-US"/>
              <a:t>R23EA109-Satyaprakash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Problem Statement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0" y="931332"/>
            <a:ext cx="8835751" cy="51816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Refined solution: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dirty="0"/>
              <a:t>The </a:t>
            </a:r>
            <a:r>
              <a:rPr lang="en-US" sz="1600" b="1" dirty="0"/>
              <a:t>AI Finance Platform</a:t>
            </a:r>
            <a:r>
              <a:rPr lang="en-US" sz="1600" dirty="0"/>
              <a:t> offers an intelligent and automated way to manage, analyze, and grow finances.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By integrating </a:t>
            </a:r>
            <a:r>
              <a:rPr lang="en-US" sz="1600" b="1" dirty="0"/>
              <a:t>artificial intelligence, data analytics, and automation</a:t>
            </a:r>
            <a:r>
              <a:rPr lang="en-US" sz="1600" dirty="0"/>
              <a:t>, the platform simplifies financial decision-making for individuals and businesses alike.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Automated Expense Tracking:</a:t>
            </a:r>
            <a:r>
              <a:rPr lang="en-US" sz="1600" dirty="0"/>
              <a:t> Monitors and categorizes transactions in real-time.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Data Visualization:</a:t>
            </a:r>
            <a:r>
              <a:rPr lang="en-US" sz="1600" dirty="0"/>
              <a:t> Presents complex data through clear, interactive charts and dashboards.</a:t>
            </a:r>
            <a:endParaRPr lang="en-US" sz="1600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IN" sz="2000" b="1" dirty="0"/>
              <a:t>Problem Description / Motivation:</a:t>
            </a:r>
            <a:endParaRPr lang="en-IN" sz="2000" b="1" dirty="0"/>
          </a:p>
          <a:p>
            <a:r>
              <a:rPr lang="en-US" sz="1500" dirty="0"/>
              <a:t>Most users face challenges like:</a:t>
            </a:r>
            <a:endParaRPr lang="en-US" sz="1500" dirty="0"/>
          </a:p>
          <a:p>
            <a:r>
              <a:rPr lang="en-US" sz="1500" b="1" dirty="0"/>
              <a:t>Lack of real-time insights</a:t>
            </a:r>
            <a:r>
              <a:rPr lang="en-US" sz="1500" dirty="0"/>
              <a:t> into their income, expenses, and investments.</a:t>
            </a:r>
            <a:endParaRPr lang="en-US" sz="1500" dirty="0"/>
          </a:p>
          <a:p>
            <a:r>
              <a:rPr lang="en-US" sz="1500" b="1" dirty="0"/>
              <a:t>Difficulty in understanding financial data</a:t>
            </a:r>
            <a:r>
              <a:rPr lang="en-US" sz="1500" dirty="0"/>
              <a:t> due to its complexity.</a:t>
            </a:r>
            <a:endParaRPr lang="en-US" sz="1500" dirty="0"/>
          </a:p>
          <a:p>
            <a:r>
              <a:rPr lang="en-US" sz="1500" b="1" dirty="0"/>
              <a:t>Manual and time-consuming processes</a:t>
            </a:r>
            <a:r>
              <a:rPr lang="en-US" sz="1500" dirty="0"/>
              <a:t> for budgeting, tracking, and forecasting.</a:t>
            </a:r>
            <a:endParaRPr lang="en-US" sz="1500" dirty="0"/>
          </a:p>
          <a:p>
            <a:r>
              <a:rPr lang="en-US" sz="1500" b="1" dirty="0"/>
              <a:t>Limited access to personalized financial guidance</a:t>
            </a:r>
            <a:r>
              <a:rPr lang="en-US" sz="1500" dirty="0"/>
              <a:t> without hiring experts.</a:t>
            </a:r>
            <a:endParaRPr lang="en-US" sz="1500" dirty="0"/>
          </a:p>
          <a:p>
            <a:r>
              <a:rPr lang="en-US" sz="1500" dirty="0"/>
              <a:t>The </a:t>
            </a:r>
            <a:r>
              <a:rPr lang="en-US" sz="1500" b="1" dirty="0"/>
              <a:t>AI Finance Platform</a:t>
            </a:r>
            <a:r>
              <a:rPr lang="en-US" sz="1500" dirty="0"/>
              <a:t> is motivated by the need to </a:t>
            </a:r>
            <a:r>
              <a:rPr lang="en-US" sz="1500" b="1" dirty="0"/>
              <a:t>simplify financial management</a:t>
            </a:r>
            <a:r>
              <a:rPr lang="en-US" sz="1500" dirty="0"/>
              <a:t> through automation, intelligent analysis, and actionable insights — helping users </a:t>
            </a:r>
            <a:r>
              <a:rPr lang="en-US" sz="1500" b="1" dirty="0"/>
              <a:t>make smarter, data-driven financial decisions effortlessly.</a:t>
            </a:r>
            <a:endParaRPr lang="en-US" sz="1500" dirty="0"/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endParaRPr lang="en-US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Product/ Solution - Innovation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134" y="812852"/>
            <a:ext cx="8771466" cy="54609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1.</a:t>
            </a:r>
            <a:r>
              <a:rPr lang="en-US" b="1" dirty="0">
                <a:solidFill>
                  <a:schemeClr val="tx1"/>
                </a:solidFill>
              </a:rPr>
              <a:t>About the innovation: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800" dirty="0"/>
              <a:t>The </a:t>
            </a:r>
            <a:r>
              <a:rPr lang="en-US" sz="1800" b="1" dirty="0"/>
              <a:t>AI Finance Platform</a:t>
            </a:r>
            <a:r>
              <a:rPr lang="en-US" sz="1800" dirty="0"/>
              <a:t> is an intelligent financial management system designed to help individuals and businesses manage their money efficiently through </a:t>
            </a:r>
            <a:r>
              <a:rPr lang="en-US" sz="1800" b="1" dirty="0"/>
              <a:t>automation, data analysis, and artificial intelligence.</a:t>
            </a:r>
            <a:endParaRPr lang="en-US" sz="1800" b="1" dirty="0"/>
          </a:p>
          <a:p>
            <a:pPr marL="0" indent="0">
              <a:buNone/>
            </a:pPr>
            <a:r>
              <a:rPr lang="en-US" sz="1800" dirty="0"/>
              <a:t>It provides a </a:t>
            </a:r>
            <a:r>
              <a:rPr lang="en-US" sz="1800" b="1" dirty="0"/>
              <a:t>personalized digital assistant</a:t>
            </a:r>
            <a:r>
              <a:rPr lang="en-US" sz="1800" dirty="0"/>
              <a:t> that tracks expenses, analyzes spending habits, forecasts future trends, and offers smart financial suggestions — all in one platform.</a:t>
            </a:r>
            <a:endParaRPr lang="en-US" sz="1800" dirty="0"/>
          </a:p>
          <a:p>
            <a:r>
              <a:rPr lang="en-US" sz="1800" b="1" dirty="0"/>
              <a:t>Simplifies Finance Management:</a:t>
            </a:r>
            <a:r>
              <a:rPr lang="en-US" sz="1800" dirty="0"/>
              <a:t> Automates manual tasks like expense tracking and budgeting.</a:t>
            </a:r>
            <a:endParaRPr lang="en-US" sz="1800" dirty="0"/>
          </a:p>
          <a:p>
            <a:r>
              <a:rPr lang="en-US" sz="1800" b="1" dirty="0"/>
              <a:t>Provides Smart Insights:</a:t>
            </a:r>
            <a:r>
              <a:rPr lang="en-US" sz="1800" dirty="0"/>
              <a:t> Uses AI to analyze financial patterns and recommend better saving and investment strategies.</a:t>
            </a:r>
            <a:endParaRPr lang="en-US" sz="1800" dirty="0"/>
          </a:p>
          <a:p>
            <a:r>
              <a:rPr lang="en-US" sz="1800" b="1" dirty="0"/>
              <a:t>Enhances Decision-Making:</a:t>
            </a:r>
            <a:r>
              <a:rPr lang="en-US" sz="1800" dirty="0"/>
              <a:t> Offers real-time analytics and visual dashboards to help users understand their finances easily.</a:t>
            </a:r>
            <a:endParaRPr lang="en-US" sz="1800" dirty="0"/>
          </a:p>
          <a:p>
            <a:r>
              <a:rPr lang="en-US" sz="1800" b="1" dirty="0"/>
              <a:t>Saves Time and Effort:</a:t>
            </a:r>
            <a:r>
              <a:rPr lang="en-US" sz="1800" dirty="0"/>
              <a:t> Reduces dependency on spreadsheets or manual calculations.</a:t>
            </a:r>
            <a:endParaRPr lang="en-US" sz="1800" dirty="0"/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Product/ Solution - Innovation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914400"/>
            <a:ext cx="8734151" cy="51054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2.How It Solves the Problems: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sz="1800" b="1" dirty="0"/>
              <a:t>Simplifies Finance Management:</a:t>
            </a:r>
            <a:r>
              <a:rPr lang="en-US" sz="1800" dirty="0"/>
              <a:t> Automates manual tasks like expense tracking and budgeting.</a:t>
            </a:r>
            <a:endParaRPr lang="en-US" sz="1800" dirty="0"/>
          </a:p>
          <a:p>
            <a:r>
              <a:rPr lang="en-US" sz="1800" b="1" dirty="0"/>
              <a:t>Provides Smart Insights:</a:t>
            </a:r>
            <a:r>
              <a:rPr lang="en-US" sz="1800" dirty="0"/>
              <a:t> Uses AI to analyze financial patterns and recommend better saving and investment strategies.</a:t>
            </a:r>
            <a:endParaRPr lang="en-US" sz="1800" dirty="0"/>
          </a:p>
          <a:p>
            <a:r>
              <a:rPr lang="en-US" sz="1800" b="1" dirty="0"/>
              <a:t>Enhances Decision-Making:</a:t>
            </a:r>
            <a:r>
              <a:rPr lang="en-US" sz="1800" dirty="0"/>
              <a:t> Offers real-time analytics and visual dashboards to help users understand their finances easily.</a:t>
            </a:r>
            <a:endParaRPr lang="en-US" sz="1800" dirty="0"/>
          </a:p>
          <a:p>
            <a:r>
              <a:rPr lang="en-US" sz="1800" b="1" dirty="0"/>
              <a:t>Saves Time and Effort:</a:t>
            </a:r>
            <a:r>
              <a:rPr lang="en-US" sz="1800" dirty="0"/>
              <a:t> Reduces dependency on spreadsheets or manual calculations.</a:t>
            </a:r>
            <a:endParaRPr lang="en-US" sz="1800" dirty="0"/>
          </a:p>
          <a:p>
            <a:r>
              <a:rPr lang="en-US" sz="1800" b="1" dirty="0"/>
              <a:t>Promotes Financial Awareness:</a:t>
            </a:r>
            <a:r>
              <a:rPr lang="en-US" sz="1800" dirty="0"/>
              <a:t> Educates users with AI-driven tips to improve money management.</a:t>
            </a:r>
            <a:endParaRPr lang="en-IN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Product/ Solution - Innovation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466" y="685800"/>
            <a:ext cx="8678333" cy="5537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3. Types of Innovation:</a:t>
            </a: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r>
              <a:rPr lang="en-US" sz="1800" b="1" dirty="0"/>
              <a:t>Product Innovation</a:t>
            </a:r>
            <a:endParaRPr lang="en-US" sz="1800" b="1" dirty="0"/>
          </a:p>
          <a:p>
            <a:pPr marL="0" indent="0">
              <a:buNone/>
            </a:pPr>
            <a:r>
              <a:rPr lang="en-US" sz="1800" dirty="0"/>
              <a:t>Introducing a new product or significantly improving an existing one.</a:t>
            </a:r>
            <a:br>
              <a:rPr lang="en-US" sz="1800" dirty="0"/>
            </a:br>
            <a:r>
              <a:rPr lang="en-US" sz="1800" b="1" dirty="0"/>
              <a:t>Example:</a:t>
            </a:r>
            <a:r>
              <a:rPr lang="en-US" sz="1800" dirty="0"/>
              <a:t> The AI Finance Platform uses </a:t>
            </a:r>
            <a:r>
              <a:rPr lang="en-US" sz="1800" b="1" dirty="0"/>
              <a:t>artificial intelligence</a:t>
            </a:r>
            <a:r>
              <a:rPr lang="en-US" sz="1800" dirty="0"/>
              <a:t> to provide real-time financial analysis, forecasting, and personalized insights — a major enhancement over traditional finance apps.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r>
              <a:rPr lang="en-US" sz="1800" b="1" dirty="0"/>
              <a:t>Business Model Innovation</a:t>
            </a:r>
            <a:endParaRPr lang="en-US" sz="1800" b="1" dirty="0"/>
          </a:p>
          <a:p>
            <a:pPr marL="0" indent="0">
              <a:buNone/>
            </a:pPr>
            <a:r>
              <a:rPr lang="en-US" sz="1800" dirty="0"/>
              <a:t>Changing how value is delivered to customers or how revenue is generated.</a:t>
            </a:r>
            <a:br>
              <a:rPr lang="en-US" sz="1800" dirty="0"/>
            </a:br>
            <a:r>
              <a:rPr lang="en-US" sz="1800" b="1" dirty="0"/>
              <a:t>Example:</a:t>
            </a:r>
            <a:r>
              <a:rPr lang="en-US" sz="1800" dirty="0"/>
              <a:t> Offering AI-based financial tools as a </a:t>
            </a:r>
            <a:r>
              <a:rPr lang="en-US" sz="1800" b="1" dirty="0"/>
              <a:t>subscription model</a:t>
            </a:r>
            <a:r>
              <a:rPr lang="en-US" sz="1800" dirty="0"/>
              <a:t> or </a:t>
            </a:r>
            <a:r>
              <a:rPr lang="en-US" sz="1800" b="1" dirty="0"/>
              <a:t>freemium service</a:t>
            </a:r>
            <a:r>
              <a:rPr lang="en-US" sz="1800" dirty="0"/>
              <a:t>, allowing users to access advanced analytics at low cost.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r>
              <a:rPr lang="en-US" sz="1800" b="1" dirty="0"/>
              <a:t>Technological Innovation</a:t>
            </a:r>
            <a:endParaRPr lang="en-US" sz="1800" b="1" dirty="0"/>
          </a:p>
          <a:p>
            <a:pPr marL="0" indent="0">
              <a:buNone/>
            </a:pPr>
            <a:r>
              <a:rPr lang="en-US" sz="1800" dirty="0"/>
              <a:t>Applying new or advanced technologies to solve existing problems efficiently.</a:t>
            </a:r>
            <a:br>
              <a:rPr lang="en-US" sz="1800" dirty="0"/>
            </a:br>
            <a:r>
              <a:rPr lang="en-US" sz="1800" b="1" dirty="0"/>
              <a:t>Example:</a:t>
            </a:r>
            <a:r>
              <a:rPr lang="en-US" sz="1800" dirty="0"/>
              <a:t> Leveraging </a:t>
            </a:r>
            <a:r>
              <a:rPr lang="en-US" sz="1800" b="1" dirty="0"/>
              <a:t>machine learning, predictive analytics, and cloud computing</a:t>
            </a:r>
            <a:r>
              <a:rPr lang="en-US" sz="1800" dirty="0"/>
              <a:t> to analyze financial data, predict trends, and offer secure, smart insights.</a:t>
            </a: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90204" pitchFamily="34" charset="0"/>
                <a:cs typeface="Arial" panose="020B0604020202090204" pitchFamily="34" charset="0"/>
              </a:rPr>
              <a:t>Product/ Solution - Readiness Level</a:t>
            </a:r>
            <a:endParaRPr lang="en-IN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812851"/>
            <a:ext cx="8607151" cy="5342416"/>
          </a:xfrm>
        </p:spPr>
        <p:txBody>
          <a:bodyPr/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5431" y="702733"/>
          <a:ext cx="7886702" cy="5682207"/>
        </p:xfrm>
        <a:graphic>
          <a:graphicData uri="http://schemas.openxmlformats.org/drawingml/2006/table">
            <a:tbl>
              <a:tblPr/>
              <a:tblGrid>
                <a:gridCol w="3943351"/>
                <a:gridCol w="3943351"/>
              </a:tblGrid>
              <a:tr h="266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Stage</a:t>
                      </a:r>
                      <a:endParaRPr lang="en-IN" sz="1400" b="1" dirty="0"/>
                    </a:p>
                  </a:txBody>
                  <a:tcPr marL="71627" marR="71627" marT="35813" marB="358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Description</a:t>
                      </a:r>
                      <a:endParaRPr lang="en-IN" sz="1400" b="1" dirty="0"/>
                    </a:p>
                  </a:txBody>
                  <a:tcPr marL="71627" marR="71627" marT="35813" marB="358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42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/>
                        <a:t>1. </a:t>
                      </a:r>
                      <a:r>
                        <a:rPr lang="en-IN" sz="1200" b="1" dirty="0"/>
                        <a:t>Ideation</a:t>
                      </a:r>
                      <a:endParaRPr lang="en-IN" sz="1200" b="1" dirty="0"/>
                    </a:p>
                  </a:txBody>
                  <a:tcPr marL="71627" marR="71627" marT="35813" marB="358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/>
                        <a:t>The stage where the main concept is created. Problems in financial management are identified, and innovative AI-based solutions are brainstormed.</a:t>
                      </a:r>
                      <a:endParaRPr lang="en-US" sz="1200" b="0"/>
                    </a:p>
                  </a:txBody>
                  <a:tcPr marL="71627" marR="71627" marT="35813" marB="358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50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2. Research &amp; Idea Validation</a:t>
                      </a:r>
                      <a:endParaRPr lang="en-IN" sz="1200" b="1" dirty="0"/>
                    </a:p>
                  </a:txBody>
                  <a:tcPr marL="71627" marR="71627" marT="35813" marB="358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/>
                        <a:t>Market research is conducted to confirm if the idea solves real user problems. Surveys and competitor analysis help validate user demand.</a:t>
                      </a:r>
                      <a:endParaRPr lang="en-US" sz="1200" b="0"/>
                    </a:p>
                  </a:txBody>
                  <a:tcPr marL="71627" marR="71627" marT="35813" marB="358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50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3. Wireframe Design</a:t>
                      </a:r>
                      <a:endParaRPr lang="en-IN" sz="1200" b="1" dirty="0"/>
                    </a:p>
                  </a:txBody>
                  <a:tcPr marL="71627" marR="71627" marT="35813" marB="358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/>
                        <a:t>Initial sketches and UI layouts are designed to visualize the structure, user journey, and core features of the platform.</a:t>
                      </a:r>
                      <a:endParaRPr lang="en-US" sz="1200" b="0"/>
                    </a:p>
                  </a:txBody>
                  <a:tcPr marL="71627" marR="71627" marT="35813" marB="358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50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4. Prototype Development</a:t>
                      </a:r>
                      <a:endParaRPr lang="en-IN" sz="1200" b="1" dirty="0"/>
                    </a:p>
                  </a:txBody>
                  <a:tcPr marL="71627" marR="71627" marT="35813" marB="358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/>
                        <a:t>A basic working model is created to demonstrate core functionalities and gather early feedback from users.</a:t>
                      </a:r>
                      <a:endParaRPr lang="en-US" sz="1200" b="0"/>
                    </a:p>
                  </a:txBody>
                  <a:tcPr marL="71627" marR="71627" marT="35813" marB="358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50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5. Minimum Viable Product (MVP)</a:t>
                      </a:r>
                      <a:endParaRPr lang="en-IN" sz="1200" b="1" dirty="0"/>
                    </a:p>
                  </a:txBody>
                  <a:tcPr marL="71627" marR="71627" marT="35813" marB="358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/>
                        <a:t>A simplified version of the product with essential features is launched to a limited audience for testing.</a:t>
                      </a:r>
                      <a:endParaRPr lang="en-US" sz="1200" b="0" dirty="0"/>
                    </a:p>
                  </a:txBody>
                  <a:tcPr marL="71627" marR="71627" marT="35813" marB="358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50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6. Testing &amp; Feedback</a:t>
                      </a:r>
                      <a:endParaRPr lang="en-IN" sz="1200" b="1" dirty="0"/>
                    </a:p>
                  </a:txBody>
                  <a:tcPr marL="71627" marR="71627" marT="35813" marB="358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/>
                        <a:t>The MVP is tested for usability, performance, and user satisfaction. Feedback is collected to improve design and functionality.</a:t>
                      </a:r>
                      <a:endParaRPr lang="en-US" sz="1200" b="0"/>
                    </a:p>
                  </a:txBody>
                  <a:tcPr marL="71627" marR="71627" marT="35813" marB="358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50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7. Full-Scale Development</a:t>
                      </a:r>
                      <a:endParaRPr lang="en-IN" sz="1200" b="1" dirty="0"/>
                    </a:p>
                  </a:txBody>
                  <a:tcPr marL="71627" marR="71627" marT="35813" marB="358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/>
                        <a:t>The complete version of the product is built with advanced features, improved scalability, and a robust backend.</a:t>
                      </a:r>
                      <a:endParaRPr lang="en-US" sz="1200" b="0" dirty="0"/>
                    </a:p>
                  </a:txBody>
                  <a:tcPr marL="71627" marR="71627" marT="35813" marB="358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50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8. Deployment &amp; Maintenance</a:t>
                      </a:r>
                      <a:endParaRPr lang="en-IN" sz="1200" b="1" dirty="0"/>
                    </a:p>
                  </a:txBody>
                  <a:tcPr marL="71627" marR="71627" marT="35813" marB="358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/>
                        <a:t>The product is launched publicly, monitored for issues, and regularly updated with new features and improvements.</a:t>
                      </a:r>
                      <a:endParaRPr lang="en-US" sz="1200" b="0" dirty="0"/>
                    </a:p>
                  </a:txBody>
                  <a:tcPr marL="71627" marR="71627" marT="35813" marB="358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panose="020B0604020202090204" pitchFamily="34" charset="0"/>
                <a:cs typeface="Arial" panose="020B0604020202090204" pitchFamily="34" charset="0"/>
              </a:rPr>
              <a:t>Ideal Customer Profile</a:t>
            </a:r>
            <a:br>
              <a:rPr lang="en-US" dirty="0">
                <a:latin typeface="Arial" panose="020B0604020202090204" pitchFamily="34" charset="0"/>
                <a:cs typeface="Arial" panose="020B0604020202090204" pitchFamily="34" charset="0"/>
              </a:rPr>
            </a:br>
            <a:endParaRPr lang="en-IN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14" name="Content Placeholder 13" descr="A black and white screen shot of a black and white screen shot of a black and white screen shot of a black and white screen shot of a black and white screen shot of a black and white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533" y="566738"/>
            <a:ext cx="7188199" cy="5419725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latin typeface="Arial" panose="020B0604020202090204" pitchFamily="34" charset="0"/>
                <a:cs typeface="Arial" panose="020B0604020202090204" pitchFamily="34" charset="0"/>
              </a:rPr>
            </a:br>
            <a:r>
              <a:rPr lang="en-US" dirty="0">
                <a:latin typeface="Arial" panose="020B0604020202090204" pitchFamily="34" charset="0"/>
                <a:cs typeface="Arial" panose="020B0604020202090204" pitchFamily="34" charset="0"/>
              </a:rPr>
              <a:t>Customer Persona</a:t>
            </a:r>
            <a:br>
              <a:rPr lang="en-US" dirty="0">
                <a:latin typeface="Arial" panose="020B0604020202090204" pitchFamily="34" charset="0"/>
                <a:cs typeface="Arial" panose="020B0604020202090204" pitchFamily="34" charset="0"/>
              </a:rPr>
            </a:br>
            <a:endParaRPr lang="en-IN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666" y="812851"/>
            <a:ext cx="8674885" cy="5545616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Rajesh Kumar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5180" y="1284446"/>
            <a:ext cx="1498177" cy="187896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5652" y="3163411"/>
          <a:ext cx="7886700" cy="2994660"/>
        </p:xfrm>
        <a:graphic>
          <a:graphicData uri="http://schemas.openxmlformats.org/drawingml/2006/table">
            <a:tbl>
              <a:tblPr/>
              <a:tblGrid>
                <a:gridCol w="3943350"/>
                <a:gridCol w="3943350"/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Age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31 years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Occupation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MBA Graduate &amp; Small Business Owner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Location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Bengaluru, India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Personality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Strategic, Disciplined, Tech-aware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Goals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Automate bookkeeping, get real-time cash flow insights, and use AI for smart investment planning.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Challenges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Manual tracking causes errors, hard to integrate multiple accounts, lacks financial transparency.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Motivation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Wants an AI-powered finance assistant to simplify analytics and improve decision-making.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90204" pitchFamily="34" charset="0"/>
                <a:cs typeface="Arial" panose="020B0604020202090204" pitchFamily="34" charset="0"/>
              </a:rPr>
              <a:t>Customer Persona</a:t>
            </a: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12851"/>
            <a:ext cx="8568267" cy="5291616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Ananya Singh</a:t>
            </a:r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7467" y="1168400"/>
            <a:ext cx="1947333" cy="194870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82112" y="3176370"/>
          <a:ext cx="7886700" cy="3200400"/>
        </p:xfrm>
        <a:graphic>
          <a:graphicData uri="http://schemas.openxmlformats.org/drawingml/2006/table">
            <a:tbl>
              <a:tblPr/>
              <a:tblGrid>
                <a:gridCol w="3943350"/>
                <a:gridCol w="3943350"/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Age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22 years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Occupation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Student (B.Tech – Final Year)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Location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Bengaluru, India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Personality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Independent, Curious, Practical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Goals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Track spending, create AI-based budgets, get reminders, and improve savings through smart suggestions.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Challenges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Hard to monitor UPI and card payments, forgets bill deadlines, lacks a unified view of finances.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Motivation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Wants an easy, intelligent finance tracker to manage expenses and build better money habits.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90204" pitchFamily="34" charset="0"/>
                <a:cs typeface="Arial" panose="020B0604020202090204" pitchFamily="34" charset="0"/>
              </a:rPr>
              <a:t>Customer Persona</a:t>
            </a: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933" y="905932"/>
            <a:ext cx="8525934" cy="5367867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Om Shukla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6035" y="1126067"/>
            <a:ext cx="1637031" cy="191494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8650" y="3089591"/>
          <a:ext cx="7886700" cy="3200400"/>
        </p:xfrm>
        <a:graphic>
          <a:graphicData uri="http://schemas.openxmlformats.org/drawingml/2006/table">
            <a:tbl>
              <a:tblPr/>
              <a:tblGrid>
                <a:gridCol w="3943350"/>
                <a:gridCol w="3943350"/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Age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 years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Occupation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Certified Financial Advisor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Location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Bengaluru, India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Personality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Analytical, Reliable, Goal-driven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Goals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Access consolidated dashboards, forecast spending patterns, and automate report generation.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Challenges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Manual data entry is time-consuming, syncing client data is difficult, and clients expect instant insights.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Motivation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Wants an AI-powered system to automate analytics, enhance accuracy, and deliver smarter financial insights efficiently.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panose="020B0604020202090204" pitchFamily="34" charset="0"/>
                <a:cs typeface="Arial" panose="020B0604020202090204" pitchFamily="34" charset="0"/>
              </a:rPr>
              <a:t>Customer Interview Insights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532" y="736600"/>
            <a:ext cx="8542867" cy="5520267"/>
          </a:xfrm>
        </p:spPr>
        <p:txBody>
          <a:bodyPr/>
          <a:lstStyle/>
          <a:p>
            <a:r>
              <a:rPr lang="en-US" sz="1500" dirty="0"/>
              <a:t>The customer interviews revealed diverse financial management needs among young professionals and advisors.</a:t>
            </a:r>
            <a:br>
              <a:rPr lang="en-US" sz="1500" dirty="0"/>
            </a:br>
            <a:r>
              <a:rPr lang="en-US" sz="1500" dirty="0"/>
              <a:t>Users are increasingly seeking </a:t>
            </a:r>
            <a:r>
              <a:rPr lang="en-US" sz="1500" b="1" dirty="0"/>
              <a:t>AI-driven, time-efficient, and intuitive financial tools</a:t>
            </a:r>
            <a:r>
              <a:rPr lang="en-US" sz="1500" dirty="0"/>
              <a:t> that simplify tracking, automate analysis, and provide actionable insights.</a:t>
            </a:r>
            <a:endParaRPr lang="en-US" sz="15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1" y="1828800"/>
          <a:ext cx="8784952" cy="4619321"/>
        </p:xfrm>
        <a:graphic>
          <a:graphicData uri="http://schemas.openxmlformats.org/drawingml/2006/table">
            <a:tbl>
              <a:tblPr/>
              <a:tblGrid>
                <a:gridCol w="2196238"/>
                <a:gridCol w="2196238"/>
                <a:gridCol w="2196238"/>
                <a:gridCol w="2196238"/>
              </a:tblGrid>
              <a:tr h="3082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Customer</a:t>
                      </a:r>
                      <a:endParaRPr lang="en-IN" sz="1400" b="1" dirty="0"/>
                    </a:p>
                  </a:txBody>
                  <a:tcPr marL="69621" marR="69621" marT="34811" marB="348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Overview</a:t>
                      </a:r>
                      <a:endParaRPr lang="en-IN" sz="1400" b="1"/>
                    </a:p>
                  </a:txBody>
                  <a:tcPr marL="69621" marR="69621" marT="34811" marB="348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Key Insights</a:t>
                      </a:r>
                      <a:endParaRPr lang="en-IN" sz="1400" b="1"/>
                    </a:p>
                  </a:txBody>
                  <a:tcPr marL="69621" marR="69621" marT="34811" marB="348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Summary</a:t>
                      </a:r>
                      <a:endParaRPr lang="en-IN" sz="1400" b="1" dirty="0"/>
                    </a:p>
                  </a:txBody>
                  <a:tcPr marL="69621" marR="69621" marT="34811" marB="348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499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/>
                        <a:t>Ananya (22, Student)</a:t>
                      </a:r>
                      <a:endParaRPr lang="en-IN" sz="1400" b="0" dirty="0"/>
                    </a:p>
                  </a:txBody>
                  <a:tcPr marL="69621" marR="69621" marT="34811" marB="348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A tech-savvy student managing rent, tuition, and expenses from part-time work and parental support</a:t>
                      </a:r>
                      <a:endParaRPr lang="en-US" sz="1400" b="0" dirty="0"/>
                    </a:p>
                  </a:txBody>
                  <a:tcPr marL="69621" marR="69621" marT="34811" marB="348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• Needs an app to track all transactions in one place.• Wants AI budgeting and saving suggestions</a:t>
                      </a:r>
                      <a:endParaRPr lang="en-US" sz="1400" b="0" dirty="0"/>
                    </a:p>
                  </a:txBody>
                  <a:tcPr marL="69621" marR="69621" marT="34811" marB="348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Ananya seeks a user-friendly AI tool that simplifies expense tracking and helps her form better financial habits.</a:t>
                      </a:r>
                      <a:endParaRPr lang="en-US" sz="1400" b="0" dirty="0"/>
                    </a:p>
                  </a:txBody>
                  <a:tcPr marL="69621" marR="69621" marT="34811" marB="348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4703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/>
                        <a:t>Rajesh (31, Small Business Owner)</a:t>
                      </a:r>
                      <a:endParaRPr lang="en-US" sz="1400" b="0"/>
                    </a:p>
                  </a:txBody>
                  <a:tcPr marL="69621" marR="69621" marT="34811" marB="348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/>
                        <a:t>Runs retail stores and handles staff salaries and supplier payments. Struggles with analyzing profits and managing accounts manually.</a:t>
                      </a:r>
                      <a:endParaRPr lang="en-US" sz="1400" b="0"/>
                    </a:p>
                  </a:txBody>
                  <a:tcPr marL="69621" marR="69621" marT="34811" marB="348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• Wants automated bookkeeping.• Needs real-time cash flow tracking.• Desires AI-driven insights for smarter investments.</a:t>
                      </a:r>
                      <a:endParaRPr lang="en-US" sz="1400" b="0" dirty="0"/>
                    </a:p>
                  </a:txBody>
                  <a:tcPr marL="69621" marR="69621" marT="34811" marB="348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/>
                        <a:t>Rajesh needs an AI-powered finance dashboard to streamline cash flow management and improve business profitability.</a:t>
                      </a:r>
                      <a:endParaRPr lang="en-US" sz="1400" b="0"/>
                    </a:p>
                  </a:txBody>
                  <a:tcPr marL="69621" marR="69621" marT="34811" marB="348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340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/>
                        <a:t>Om (25, Financial Advisor)</a:t>
                      </a:r>
                      <a:endParaRPr lang="en-IN" sz="1400" b="0"/>
                    </a:p>
                  </a:txBody>
                  <a:tcPr marL="69621" marR="69621" marT="34811" marB="348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Manages client portfolios and prepares reports manually. Faces time and data integration challenges.</a:t>
                      </a:r>
                      <a:endParaRPr lang="en-US" sz="1400" b="0" dirty="0"/>
                    </a:p>
                  </a:txBody>
                  <a:tcPr marL="69621" marR="69621" marT="34811" marB="348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• Seeks automated report generation.• Needs real-time financial analytics.• Wants a centralized dashboard for clients.</a:t>
                      </a:r>
                      <a:endParaRPr lang="en-US" sz="1400" b="0" dirty="0"/>
                    </a:p>
                  </a:txBody>
                  <a:tcPr marL="69621" marR="69621" marT="34811" marB="348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Om desires an AI-integrated financial assistant to automate analytics and improve client servicing efficiency.</a:t>
                      </a:r>
                      <a:endParaRPr lang="en-US" sz="1400" b="0" dirty="0"/>
                    </a:p>
                  </a:txBody>
                  <a:tcPr marL="69621" marR="69621" marT="34811" marB="348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90204" pitchFamily="34" charset="0"/>
                <a:cs typeface="Arial" panose="020B0604020202090204" pitchFamily="34" charset="0"/>
              </a:rPr>
              <a:t>PROJECT PAGE</a:t>
            </a:r>
            <a:endParaRPr lang="en-IN" sz="24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6" name="Content Placeholder 5" descr="A screenshot of a computer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812851"/>
            <a:ext cx="7963845" cy="4128779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90204" pitchFamily="34" charset="0"/>
                <a:cs typeface="Arial" panose="020B0604020202090204" pitchFamily="34" charset="0"/>
              </a:rPr>
              <a:t>PROJECT PAGE</a:t>
            </a:r>
            <a:endParaRPr lang="en-IN" sz="24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6" name="Content Placeholder 5" descr="A screenshot of a computer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94" y="1337235"/>
            <a:ext cx="8057012" cy="418353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>
                <a:latin typeface="Arial" panose="020B0604020202090204" pitchFamily="34" charset="0"/>
                <a:cs typeface="Arial" panose="020B0604020202090204" pitchFamily="34" charset="0"/>
              </a:rPr>
            </a:br>
            <a:r>
              <a:rPr lang="en-US" dirty="0">
                <a:latin typeface="Arial" panose="020B0604020202090204" pitchFamily="34" charset="0"/>
                <a:cs typeface="Arial" panose="020B0604020202090204" pitchFamily="34" charset="0"/>
              </a:rPr>
              <a:t>Product Requirement Specifications</a:t>
            </a:r>
            <a:br>
              <a:rPr lang="en-US" dirty="0">
                <a:latin typeface="Arial" panose="020B0604020202090204" pitchFamily="34" charset="0"/>
                <a:cs typeface="Arial" panose="020B0604020202090204" pitchFamily="34" charset="0"/>
              </a:rPr>
            </a:br>
            <a:endParaRPr lang="en-IN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733" y="812851"/>
            <a:ext cx="8686800" cy="5350882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sz="1600" b="1" u="sng" dirty="0">
                <a:latin typeface="Arial" panose="020B0604020202090204" pitchFamily="34" charset="0"/>
                <a:cs typeface="Arial" panose="020B0604020202090204" pitchFamily="34" charset="0"/>
              </a:rPr>
              <a:t>Product Overview</a:t>
            </a:r>
            <a:endParaRPr lang="en-US" sz="1600" b="1" u="sng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lvl="0"/>
            <a:endParaRPr lang="en-IN" sz="1600"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latin typeface="Arial" panose="020B0604020202090204" pitchFamily="34" charset="0"/>
                <a:cs typeface="Arial" panose="020B0604020202090204" pitchFamily="34" charset="0"/>
              </a:rPr>
              <a:t>Product Name</a:t>
            </a:r>
            <a:r>
              <a:rPr lang="en-US" sz="1400" dirty="0">
                <a:latin typeface="Arial" panose="020B0604020202090204" pitchFamily="34" charset="0"/>
                <a:cs typeface="Arial" panose="020B0604020202090204" pitchFamily="34" charset="0"/>
              </a:rPr>
              <a:t>: AI Finance Platform</a:t>
            </a:r>
            <a:endParaRPr lang="en-IN" sz="1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latin typeface="Arial" panose="020B0604020202090204" pitchFamily="34" charset="0"/>
                <a:cs typeface="Arial" panose="020B0604020202090204" pitchFamily="34" charset="0"/>
              </a:rPr>
              <a:t>Type</a:t>
            </a:r>
            <a:r>
              <a:rPr lang="en-US" sz="1400" dirty="0">
                <a:latin typeface="Arial" panose="020B0604020202090204" pitchFamily="34" charset="0"/>
                <a:cs typeface="Arial" panose="020B0604020202090204" pitchFamily="34" charset="0"/>
              </a:rPr>
              <a:t>: AI-powered full-stack web application</a:t>
            </a:r>
            <a:endParaRPr lang="en-IN" sz="1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latin typeface="Arial" panose="020B0604020202090204" pitchFamily="34" charset="0"/>
                <a:cs typeface="Arial" panose="020B0604020202090204" pitchFamily="34" charset="0"/>
              </a:rPr>
              <a:t>Purpose</a:t>
            </a:r>
            <a:r>
              <a:rPr lang="en-US" sz="1400" dirty="0">
                <a:latin typeface="Arial" panose="020B0604020202090204" pitchFamily="34" charset="0"/>
                <a:cs typeface="Arial" panose="020B0604020202090204" pitchFamily="34" charset="0"/>
              </a:rPr>
              <a:t>: To help users manage, analyze, and forecast their financial activities using AI insights. It automates budgeting, expense tracking, and investment recommendations through personalized dashboards.</a:t>
            </a:r>
            <a:endParaRPr lang="en-IN" sz="1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latin typeface="Arial" panose="020B0604020202090204" pitchFamily="34" charset="0"/>
                <a:cs typeface="Arial" panose="020B0604020202090204" pitchFamily="34" charset="0"/>
              </a:rPr>
              <a:t>Core Value</a:t>
            </a:r>
            <a:r>
              <a:rPr lang="en-US" sz="1400" dirty="0">
                <a:latin typeface="Arial" panose="020B0604020202090204" pitchFamily="34" charset="0"/>
                <a:cs typeface="Arial" panose="020B0604020202090204" pitchFamily="34" charset="0"/>
              </a:rPr>
              <a:t>: Simplifies personal and business finance management by leveraging Gemini AI for real-time analytics and smart decision-making.</a:t>
            </a:r>
            <a:endParaRPr lang="en-IN" sz="1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latin typeface="Arial" panose="020B0604020202090204" pitchFamily="34" charset="0"/>
                <a:cs typeface="Arial" panose="020B0604020202090204" pitchFamily="34" charset="0"/>
              </a:rPr>
              <a:t>Target Users</a:t>
            </a:r>
            <a:r>
              <a:rPr lang="en-US" sz="1400" dirty="0">
                <a:latin typeface="Arial" panose="020B0604020202090204" pitchFamily="34" charset="0"/>
                <a:cs typeface="Arial" panose="020B0604020202090204" pitchFamily="34" charset="0"/>
              </a:rPr>
              <a:t>: Individual investors, business owners, students, and financial advisors</a:t>
            </a:r>
            <a:endParaRPr lang="en-US" sz="1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buNone/>
            </a:pPr>
            <a:endParaRPr lang="en-IN" sz="1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sz="1600" b="1" u="sng" dirty="0">
                <a:latin typeface="Arial" panose="020B0604020202090204" pitchFamily="34" charset="0"/>
                <a:cs typeface="Arial" panose="020B0604020202090204" pitchFamily="34" charset="0"/>
              </a:rPr>
              <a:t>System Architecture</a:t>
            </a:r>
            <a:endParaRPr lang="en-US" sz="1600" b="1" u="sng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endParaRPr lang="en-US" sz="1600" b="1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latin typeface="Arial" panose="020B0604020202090204" pitchFamily="34" charset="0"/>
                <a:cs typeface="Arial" panose="020B0604020202090204" pitchFamily="34" charset="0"/>
              </a:rPr>
              <a:t>Frontend</a:t>
            </a:r>
            <a:r>
              <a:rPr lang="en-US" sz="1400" dirty="0">
                <a:latin typeface="Arial" panose="020B0604020202090204" pitchFamily="34" charset="0"/>
                <a:cs typeface="Arial" panose="020B0604020202090204" pitchFamily="34" charset="0"/>
              </a:rPr>
              <a:t>: Next.js 15 + React 19 (Tailwind CSS, </a:t>
            </a:r>
            <a:r>
              <a:rPr lang="en-US" sz="1400" dirty="0" err="1">
                <a:latin typeface="Arial" panose="020B0604020202090204" pitchFamily="34" charset="0"/>
                <a:cs typeface="Arial" panose="020B0604020202090204" pitchFamily="34" charset="0"/>
              </a:rPr>
              <a:t>Shadcn</a:t>
            </a:r>
            <a:r>
              <a:rPr lang="en-US" sz="1400" dirty="0">
                <a:latin typeface="Arial" panose="020B0604020202090204" pitchFamily="34" charset="0"/>
                <a:cs typeface="Arial" panose="020B0604020202090204" pitchFamily="34" charset="0"/>
              </a:rPr>
              <a:t> UI) </a:t>
            </a:r>
            <a:endParaRPr lang="en-US" sz="1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latin typeface="Arial" panose="020B0604020202090204" pitchFamily="34" charset="0"/>
                <a:cs typeface="Arial" panose="020B0604020202090204" pitchFamily="34" charset="0"/>
              </a:rPr>
              <a:t>Backend</a:t>
            </a:r>
            <a:r>
              <a:rPr lang="en-US" sz="1400" dirty="0">
                <a:latin typeface="Arial" panose="020B0604020202090204" pitchFamily="34" charset="0"/>
                <a:cs typeface="Arial" panose="020B0604020202090204" pitchFamily="34" charset="0"/>
              </a:rPr>
              <a:t>: Subspace (Serverless PostgreSQL) + Prisma ORM</a:t>
            </a:r>
            <a:endParaRPr lang="en-US" sz="1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latin typeface="Arial" panose="020B0604020202090204" pitchFamily="34" charset="0"/>
                <a:cs typeface="Arial" panose="020B0604020202090204" pitchFamily="34" charset="0"/>
              </a:rPr>
              <a:t>Authentication</a:t>
            </a:r>
            <a:r>
              <a:rPr lang="en-US" sz="1400" dirty="0">
                <a:latin typeface="Arial" panose="020B0604020202090204" pitchFamily="34" charset="0"/>
                <a:cs typeface="Arial" panose="020B0604020202090204" pitchFamily="34" charset="0"/>
              </a:rPr>
              <a:t>: Clerk for secure user management</a:t>
            </a:r>
            <a:endParaRPr lang="en-IN" sz="1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latin typeface="Arial" panose="020B0604020202090204" pitchFamily="34" charset="0"/>
                <a:cs typeface="Arial" panose="020B0604020202090204" pitchFamily="34" charset="0"/>
              </a:rPr>
              <a:t>AI Engine</a:t>
            </a:r>
            <a:r>
              <a:rPr lang="en-US" sz="1400" dirty="0">
                <a:latin typeface="Arial" panose="020B0604020202090204" pitchFamily="34" charset="0"/>
                <a:cs typeface="Arial" panose="020B0604020202090204" pitchFamily="34" charset="0"/>
              </a:rPr>
              <a:t>: Gemini AI for budgeting, predictions, and analytics</a:t>
            </a:r>
            <a:endParaRPr lang="en-US" sz="1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latin typeface="Arial" panose="020B0604020202090204" pitchFamily="34" charset="0"/>
                <a:cs typeface="Arial" panose="020B0604020202090204" pitchFamily="34" charset="0"/>
              </a:rPr>
              <a:t>Automation</a:t>
            </a:r>
            <a:r>
              <a:rPr lang="en-US" sz="1400" dirty="0">
                <a:latin typeface="Arial" panose="020B0604020202090204" pitchFamily="34" charset="0"/>
                <a:cs typeface="Arial" panose="020B0604020202090204" pitchFamily="34" charset="0"/>
              </a:rPr>
              <a:t>: </a:t>
            </a:r>
            <a:r>
              <a:rPr lang="en-US" sz="1400" dirty="0" err="1">
                <a:latin typeface="Arial" panose="020B0604020202090204" pitchFamily="34" charset="0"/>
                <a:cs typeface="Arial" panose="020B0604020202090204" pitchFamily="34" charset="0"/>
              </a:rPr>
              <a:t>Inngest</a:t>
            </a:r>
            <a:r>
              <a:rPr lang="en-US" sz="1400" dirty="0">
                <a:latin typeface="Arial" panose="020B0604020202090204" pitchFamily="34" charset="0"/>
                <a:cs typeface="Arial" panose="020B0604020202090204" pitchFamily="34" charset="0"/>
              </a:rPr>
              <a:t> for transaction updates and scheduled reports</a:t>
            </a:r>
            <a:endParaRPr lang="en-IN" sz="1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buNone/>
            </a:pPr>
            <a:br>
              <a:rPr lang="en-US" dirty="0"/>
            </a:br>
            <a:endParaRPr lang="en-IN" sz="1600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90204" pitchFamily="34" charset="0"/>
                <a:cs typeface="Arial" panose="020B0604020202090204" pitchFamily="34" charset="0"/>
              </a:rPr>
              <a:t>Product Requirement Specifications</a:t>
            </a: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933" y="812851"/>
            <a:ext cx="8742618" cy="5680024"/>
          </a:xfrm>
        </p:spPr>
        <p:txBody>
          <a:bodyPr>
            <a:normAutofit/>
          </a:bodyPr>
          <a:lstStyle/>
          <a:p>
            <a:pPr lvl="0"/>
            <a:r>
              <a:rPr lang="en-US" sz="1600" b="1" u="sng" dirty="0">
                <a:latin typeface="Arial" panose="020B0604020202090204" pitchFamily="34" charset="0"/>
                <a:cs typeface="Arial" panose="020B0604020202090204" pitchFamily="34" charset="0"/>
              </a:rPr>
              <a:t>Functional Requirements</a:t>
            </a:r>
            <a:endParaRPr lang="en-IN" sz="1600" u="sng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buNone/>
            </a:pPr>
            <a:endParaRPr lang="en-IN" sz="1600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5000" y="1204725"/>
          <a:ext cx="7543799" cy="44679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44928"/>
                <a:gridCol w="3975608"/>
                <a:gridCol w="1223263"/>
              </a:tblGrid>
              <a:tr h="496438"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100" b="1" spc="-1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Feature</a:t>
                      </a:r>
                      <a:endParaRPr lang="en-IN" sz="1100" b="1" dirty="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100" b="1" spc="-1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Description</a:t>
                      </a:r>
                      <a:endParaRPr lang="en-IN" sz="1100" b="1" dirty="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100" b="1" spc="-1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Priority</a:t>
                      </a:r>
                      <a:endParaRPr lang="en-IN" sz="1100" b="1" dirty="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</a:tr>
              <a:tr h="496438"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10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User Authentication &amp; </a:t>
                      </a:r>
                      <a:r>
                        <a:rPr lang="en-US" sz="1100" spc="-1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Onboarding</a:t>
                      </a:r>
                      <a:endParaRPr lang="en-IN" sz="1100" dirty="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10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Secure sign-up/login; collects user income, spending </a:t>
                      </a:r>
                      <a:r>
                        <a:rPr lang="en-US" sz="1100" spc="-1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habit</a:t>
                      </a:r>
                      <a:endParaRPr lang="en-IN" sz="1100" dirty="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 indent="245110">
                        <a:spcBef>
                          <a:spcPts val="335"/>
                        </a:spcBef>
                        <a:buNone/>
                      </a:pPr>
                      <a:r>
                        <a:rPr lang="en-US" sz="1100" spc="65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High.</a:t>
                      </a:r>
                      <a:endParaRPr lang="en-IN" sz="1100" dirty="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</a:tr>
              <a:tr h="496438"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10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Finance </a:t>
                      </a:r>
                      <a:r>
                        <a:rPr lang="en-US" sz="1100" spc="-1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Dashboard</a:t>
                      </a:r>
                      <a:endParaRPr lang="en-IN" sz="1100" dirty="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100">
                          <a:effectLst/>
                          <a:latin typeface="+mn-lt"/>
                          <a:cs typeface="Arial" panose="020B0604020202090204" pitchFamily="34" charset="0"/>
                        </a:rPr>
                        <a:t>Displays total balance, expenses, income trends</a:t>
                      </a:r>
                      <a:endParaRPr lang="en-IN" sz="110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 algn="r">
                        <a:spcBef>
                          <a:spcPts val="335"/>
                        </a:spcBef>
                        <a:buNone/>
                      </a:pPr>
                      <a:r>
                        <a:rPr lang="en-US" sz="1100" spc="-100">
                          <a:effectLst/>
                          <a:latin typeface="+mn-lt"/>
                          <a:cs typeface="Arial" panose="020B0604020202090204" pitchFamily="34" charset="0"/>
                        </a:rPr>
                        <a:t>           H i g h                              in</a:t>
                      </a:r>
                      <a:endParaRPr lang="en-IN" sz="110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</a:tr>
              <a:tr h="496438"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10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Expense </a:t>
                      </a:r>
                      <a:r>
                        <a:rPr lang="en-US" sz="1100" spc="-1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Tracking</a:t>
                      </a:r>
                      <a:endParaRPr lang="en-IN" sz="1100" dirty="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10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Users can add, edit, and categorize transactions </a:t>
                      </a:r>
                      <a:r>
                        <a:rPr lang="en-US" sz="1100" spc="-1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automatic AI</a:t>
                      </a:r>
                      <a:endParaRPr lang="en-IN" sz="1100" dirty="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7470">
                        <a:spcBef>
                          <a:spcPts val="335"/>
                        </a:spcBef>
                        <a:buNone/>
                      </a:pPr>
                      <a:r>
                        <a:rPr lang="en-US" sz="1100">
                          <a:effectLst/>
                          <a:latin typeface="+mn-lt"/>
                          <a:cs typeface="Arial" panose="020B0604020202090204" pitchFamily="34" charset="0"/>
                        </a:rPr>
                        <a:t>    Medium</a:t>
                      </a:r>
                      <a:endParaRPr lang="en-IN" sz="110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</a:tr>
              <a:tr h="496438"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100">
                          <a:effectLst/>
                          <a:latin typeface="+mn-lt"/>
                          <a:cs typeface="Arial" panose="020B0604020202090204" pitchFamily="34" charset="0"/>
                        </a:rPr>
                        <a:t>Budget </a:t>
                      </a:r>
                      <a:r>
                        <a:rPr lang="en-US" sz="1100" spc="-10">
                          <a:effectLst/>
                          <a:latin typeface="+mn-lt"/>
                          <a:cs typeface="Arial" panose="020B0604020202090204" pitchFamily="34" charset="0"/>
                        </a:rPr>
                        <a:t>Planner</a:t>
                      </a:r>
                      <a:endParaRPr lang="en-IN" sz="110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10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AI-generated monthly or custom budget </a:t>
                      </a:r>
                      <a:r>
                        <a:rPr lang="en-US" sz="1100" spc="-1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recommendations</a:t>
                      </a:r>
                      <a:endParaRPr lang="en-IN" sz="1100" dirty="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9530">
                        <a:spcBef>
                          <a:spcPts val="335"/>
                        </a:spcBef>
                        <a:buNone/>
                        <a:tabLst>
                          <a:tab pos="377190" algn="l"/>
                        </a:tabLst>
                      </a:pPr>
                      <a:r>
                        <a:rPr lang="en-US" sz="1100" spc="-50">
                          <a:effectLst/>
                          <a:latin typeface="+mn-lt"/>
                          <a:cs typeface="Arial" panose="020B0604020202090204" pitchFamily="34" charset="0"/>
                        </a:rPr>
                        <a:t>.     </a:t>
                      </a:r>
                      <a:r>
                        <a:rPr lang="en-US" sz="1100" spc="-20">
                          <a:effectLst/>
                          <a:latin typeface="+mn-lt"/>
                          <a:cs typeface="Arial" panose="020B0604020202090204" pitchFamily="34" charset="0"/>
                        </a:rPr>
                        <a:t>High</a:t>
                      </a:r>
                      <a:endParaRPr lang="en-IN" sz="110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</a:tr>
              <a:tr h="496438"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100">
                          <a:effectLst/>
                          <a:latin typeface="+mn-lt"/>
                          <a:cs typeface="Arial" panose="020B0604020202090204" pitchFamily="34" charset="0"/>
                        </a:rPr>
                        <a:t>AI Investment </a:t>
                      </a:r>
                      <a:r>
                        <a:rPr lang="en-US" sz="1100" spc="-10">
                          <a:effectLst/>
                          <a:latin typeface="+mn-lt"/>
                          <a:cs typeface="Arial" panose="020B0604020202090204" pitchFamily="34" charset="0"/>
                        </a:rPr>
                        <a:t>Insights</a:t>
                      </a:r>
                      <a:endParaRPr lang="en-IN" sz="110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10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Provides stock, crypto, and savings suggestions based </a:t>
                      </a:r>
                      <a:r>
                        <a:rPr lang="en-US" sz="1100" spc="-25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on pattern</a:t>
                      </a:r>
                      <a:endParaRPr lang="en-IN" sz="1100" dirty="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 algn="just">
                        <a:spcBef>
                          <a:spcPts val="335"/>
                        </a:spcBef>
                        <a:buNone/>
                      </a:pPr>
                      <a:r>
                        <a:rPr lang="en-US" sz="1100" spc="20">
                          <a:effectLst/>
                          <a:latin typeface="+mn-lt"/>
                          <a:cs typeface="Arial" panose="020B0604020202090204" pitchFamily="34" charset="0"/>
                        </a:rPr>
                        <a:t>      Medium         </a:t>
                      </a:r>
                      <a:endParaRPr lang="en-IN" sz="110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</a:tr>
              <a:tr h="496438"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100">
                          <a:effectLst/>
                          <a:latin typeface="+mn-lt"/>
                          <a:cs typeface="Arial" panose="020B0604020202090204" pitchFamily="34" charset="0"/>
                        </a:rPr>
                        <a:t>Report </a:t>
                      </a:r>
                      <a:r>
                        <a:rPr lang="en-US" sz="1100" spc="-10">
                          <a:effectLst/>
                          <a:latin typeface="+mn-lt"/>
                          <a:cs typeface="Arial" panose="020B0604020202090204" pitchFamily="34" charset="0"/>
                        </a:rPr>
                        <a:t>Generation</a:t>
                      </a:r>
                      <a:endParaRPr lang="en-IN" sz="110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10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Exports personalized financial reports to PDF or </a:t>
                      </a:r>
                      <a:r>
                        <a:rPr lang="en-US" sz="1100" spc="-1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Excel.</a:t>
                      </a:r>
                      <a:endParaRPr lang="en-IN" sz="1100" dirty="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 indent="169545">
                        <a:spcBef>
                          <a:spcPts val="335"/>
                        </a:spcBef>
                        <a:buNone/>
                      </a:pPr>
                      <a:r>
                        <a:rPr lang="en-US" sz="1100" spc="-10">
                          <a:effectLst/>
                          <a:latin typeface="+mn-lt"/>
                          <a:cs typeface="Arial" panose="020B0604020202090204" pitchFamily="34" charset="0"/>
                        </a:rPr>
                        <a:t>Medium</a:t>
                      </a:r>
                      <a:endParaRPr lang="en-IN" sz="110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</a:tr>
              <a:tr h="496438"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100">
                          <a:effectLst/>
                          <a:latin typeface="+mn-lt"/>
                          <a:cs typeface="Arial" panose="020B0604020202090204" pitchFamily="34" charset="0"/>
                        </a:rPr>
                        <a:t>Notifications &amp; </a:t>
                      </a:r>
                      <a:r>
                        <a:rPr lang="en-US" sz="1100" spc="-10">
                          <a:effectLst/>
                          <a:latin typeface="+mn-lt"/>
                          <a:cs typeface="Arial" panose="020B0604020202090204" pitchFamily="34" charset="0"/>
                        </a:rPr>
                        <a:t>Reminders</a:t>
                      </a:r>
                      <a:endParaRPr lang="en-IN" sz="110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10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Alerts for bill payments, budget limits, and savings </a:t>
                      </a:r>
                      <a:r>
                        <a:rPr lang="en-US" sz="1100" spc="-1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milestones</a:t>
                      </a:r>
                      <a:endParaRPr lang="en-IN" sz="1100" dirty="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 indent="231775">
                        <a:spcBef>
                          <a:spcPts val="335"/>
                        </a:spcBef>
                        <a:buNone/>
                      </a:pPr>
                      <a:r>
                        <a:rPr lang="en-US" sz="1100" spc="-170">
                          <a:effectLst/>
                          <a:latin typeface="+mn-lt"/>
                          <a:cs typeface="Arial" panose="020B0604020202090204" pitchFamily="34" charset="0"/>
                        </a:rPr>
                        <a:t> </a:t>
                      </a:r>
                      <a:r>
                        <a:rPr lang="en-US" sz="1100" spc="-10">
                          <a:effectLst/>
                          <a:latin typeface="+mn-lt"/>
                          <a:cs typeface="Arial" panose="020B0604020202090204" pitchFamily="34" charset="0"/>
                        </a:rPr>
                        <a:t>Medium</a:t>
                      </a:r>
                      <a:endParaRPr lang="en-IN" sz="110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</a:tr>
              <a:tr h="496438"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10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Admin </a:t>
                      </a:r>
                      <a:r>
                        <a:rPr lang="en-US" sz="1100" spc="-1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Portal</a:t>
                      </a:r>
                      <a:endParaRPr lang="en-IN" sz="1100" dirty="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10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For monitoring usage analytics and managing </a:t>
                      </a:r>
                      <a:r>
                        <a:rPr lang="en-US" sz="1100" spc="-1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users.</a:t>
                      </a:r>
                      <a:endParaRPr lang="en-IN" sz="1100" dirty="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" indent="278130" algn="just">
                        <a:spcBef>
                          <a:spcPts val="335"/>
                        </a:spcBef>
                        <a:buNone/>
                      </a:pPr>
                      <a:r>
                        <a:rPr lang="en-US" sz="1100" spc="-25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Low</a:t>
                      </a:r>
                      <a:endParaRPr lang="en-IN" sz="1100" dirty="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90204" pitchFamily="34" charset="0"/>
                <a:cs typeface="Arial" panose="020B0604020202090204" pitchFamily="34" charset="0"/>
              </a:rPr>
              <a:t>Product Requirement Specifications</a:t>
            </a: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0" y="812851"/>
            <a:ext cx="8835751" cy="5477882"/>
          </a:xfrm>
        </p:spPr>
        <p:txBody>
          <a:bodyPr/>
          <a:lstStyle/>
          <a:p>
            <a:r>
              <a:rPr lang="en-US" sz="1600" b="1" u="sng" dirty="0">
                <a:latin typeface="Arial" panose="020B0604020202090204" pitchFamily="34" charset="0"/>
                <a:cs typeface="Arial" panose="020B0604020202090204" pitchFamily="34" charset="0"/>
              </a:rPr>
              <a:t>Non-Functional Requirements</a:t>
            </a:r>
            <a:endParaRPr lang="en-US" sz="1600" b="1" u="sng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endParaRPr lang="en-IN" sz="1600" b="1" u="sng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8134" y="1337732"/>
          <a:ext cx="7518400" cy="39708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5520"/>
                <a:gridCol w="5262880"/>
              </a:tblGrid>
              <a:tr h="408026"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200" spc="-1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Category</a:t>
                      </a:r>
                      <a:endParaRPr lang="en-IN" sz="1200" dirty="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200" spc="-10">
                          <a:effectLst/>
                          <a:latin typeface="+mn-lt"/>
                          <a:cs typeface="Arial" panose="020B0604020202090204" pitchFamily="34" charset="0"/>
                        </a:rPr>
                        <a:t>Requirement</a:t>
                      </a:r>
                      <a:endParaRPr lang="en-IN" sz="120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</a:tr>
              <a:tr h="408026"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200" spc="-1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Performance</a:t>
                      </a:r>
                      <a:endParaRPr lang="en-IN" sz="1200" dirty="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200">
                          <a:effectLst/>
                          <a:latin typeface="+mn-lt"/>
                          <a:cs typeface="Arial" panose="020B0604020202090204" pitchFamily="34" charset="0"/>
                        </a:rPr>
                        <a:t>App should respond within 2–3 seconds for key </a:t>
                      </a:r>
                      <a:r>
                        <a:rPr lang="en-US" sz="1200" spc="-10">
                          <a:effectLst/>
                          <a:latin typeface="+mn-lt"/>
                          <a:cs typeface="Arial" panose="020B0604020202090204" pitchFamily="34" charset="0"/>
                        </a:rPr>
                        <a:t>actions.</a:t>
                      </a:r>
                      <a:endParaRPr lang="en-IN" sz="120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</a:tr>
              <a:tr h="408026"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200" spc="-1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Scalability</a:t>
                      </a:r>
                      <a:endParaRPr lang="en-IN" sz="1200" dirty="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200">
                          <a:effectLst/>
                          <a:latin typeface="+mn-lt"/>
                          <a:cs typeface="Arial" panose="020B0604020202090204" pitchFamily="34" charset="0"/>
                        </a:rPr>
                        <a:t>Supports up to 20,000 active users </a:t>
                      </a:r>
                      <a:r>
                        <a:rPr lang="en-US" sz="1200" spc="-10">
                          <a:effectLst/>
                          <a:latin typeface="+mn-lt"/>
                          <a:cs typeface="Arial" panose="020B0604020202090204" pitchFamily="34" charset="0"/>
                        </a:rPr>
                        <a:t>simultaneously.</a:t>
                      </a:r>
                      <a:endParaRPr lang="en-IN" sz="120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</a:tr>
              <a:tr h="408026"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200" spc="-1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Security</a:t>
                      </a:r>
                      <a:endParaRPr lang="en-IN" sz="1200" dirty="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Implements encryption, authentication (Clerk), and role-based </a:t>
                      </a:r>
                      <a:r>
                        <a:rPr lang="en-US" sz="1200" spc="-1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access.</a:t>
                      </a:r>
                      <a:endParaRPr lang="en-IN" sz="1200" dirty="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</a:tr>
              <a:tr h="408026"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200" spc="-1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Usability</a:t>
                      </a:r>
                      <a:endParaRPr lang="en-IN" sz="1200" dirty="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Responsive UI using Tailwind CSS and </a:t>
                      </a:r>
                      <a:r>
                        <a:rPr lang="en-US" sz="1200" dirty="0" err="1">
                          <a:effectLst/>
                          <a:latin typeface="+mn-lt"/>
                          <a:cs typeface="Arial" panose="020B0604020202090204" pitchFamily="34" charset="0"/>
                        </a:rPr>
                        <a:t>Shadcn</a:t>
                      </a:r>
                      <a:r>
                        <a:rPr lang="en-US" sz="120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 </a:t>
                      </a:r>
                      <a:r>
                        <a:rPr lang="en-US" sz="1200" spc="-25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UI.</a:t>
                      </a:r>
                      <a:endParaRPr lang="en-IN" sz="1200" dirty="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</a:tr>
              <a:tr h="408026"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200" spc="-10">
                          <a:effectLst/>
                          <a:latin typeface="+mn-lt"/>
                          <a:cs typeface="Arial" panose="020B0604020202090204" pitchFamily="34" charset="0"/>
                        </a:rPr>
                        <a:t>Availability</a:t>
                      </a:r>
                      <a:endParaRPr lang="en-IN" sz="120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99% uptime with fallback and retry </a:t>
                      </a:r>
                      <a:r>
                        <a:rPr lang="en-US" sz="1200" spc="-1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systems.</a:t>
                      </a:r>
                      <a:endParaRPr lang="en-IN" sz="1200" dirty="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</a:tr>
              <a:tr h="408026"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200" spc="-10">
                          <a:effectLst/>
                          <a:latin typeface="+mn-lt"/>
                          <a:cs typeface="Arial" panose="020B0604020202090204" pitchFamily="34" charset="0"/>
                        </a:rPr>
                        <a:t>Integration</a:t>
                      </a:r>
                      <a:endParaRPr lang="en-IN" sz="120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Supports Plaid API or financial data APIs for real-time balance </a:t>
                      </a:r>
                      <a:r>
                        <a:rPr lang="en-US" sz="1200" spc="-1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updates.</a:t>
                      </a:r>
                      <a:endParaRPr lang="en-IN" sz="1200" dirty="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</a:tr>
              <a:tr h="408026"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200" spc="-10">
                          <a:effectLst/>
                          <a:latin typeface="+mn-lt"/>
                          <a:cs typeface="Arial" panose="020B0604020202090204" pitchFamily="34" charset="0"/>
                        </a:rPr>
                        <a:t>Maintainability</a:t>
                      </a:r>
                      <a:endParaRPr lang="en-IN" sz="120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Built using modular Next.js + Prisma </a:t>
                      </a:r>
                      <a:r>
                        <a:rPr lang="en-US" sz="1200" spc="-1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architecture.</a:t>
                      </a:r>
                      <a:endParaRPr lang="en-IN" sz="1200" dirty="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</a:tr>
              <a:tr h="706655"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200">
                          <a:effectLst/>
                          <a:latin typeface="+mn-lt"/>
                          <a:cs typeface="Arial" panose="020B0604020202090204" pitchFamily="34" charset="0"/>
                        </a:rPr>
                        <a:t>AI </a:t>
                      </a:r>
                      <a:r>
                        <a:rPr lang="en-US" sz="1200" spc="-10">
                          <a:effectLst/>
                          <a:latin typeface="+mn-lt"/>
                          <a:cs typeface="Arial" panose="020B0604020202090204" pitchFamily="34" charset="0"/>
                        </a:rPr>
                        <a:t>Integration</a:t>
                      </a:r>
                      <a:endParaRPr lang="en-IN" sz="120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Uses Gemini AI for predictions and </a:t>
                      </a:r>
                      <a:r>
                        <a:rPr lang="en-US" sz="1200" spc="-10" dirty="0">
                          <a:effectLst/>
                          <a:latin typeface="+mn-lt"/>
                          <a:cs typeface="Arial" panose="020B0604020202090204" pitchFamily="34" charset="0"/>
                        </a:rPr>
                        <a:t>insights.</a:t>
                      </a:r>
                      <a:endParaRPr lang="en-IN" sz="1200" dirty="0">
                        <a:effectLst/>
                        <a:latin typeface="+mn-lt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90204" pitchFamily="34" charset="0"/>
                <a:cs typeface="Arial" panose="020B0604020202090204" pitchFamily="34" charset="0"/>
              </a:rPr>
              <a:t>Product Requirement Specifications</a:t>
            </a: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467" y="812851"/>
            <a:ext cx="8751084" cy="5359349"/>
          </a:xfrm>
        </p:spPr>
        <p:txBody>
          <a:bodyPr/>
          <a:lstStyle/>
          <a:p>
            <a:pPr marL="0" indent="0">
              <a:buNone/>
            </a:pPr>
            <a:r>
              <a:rPr lang="en-US" sz="1600" b="1" u="sng" dirty="0">
                <a:latin typeface="Arial" panose="020B0604020202090204" pitchFamily="34" charset="0"/>
                <a:cs typeface="Arial" panose="020B0604020202090204" pitchFamily="34" charset="0"/>
              </a:rPr>
              <a:t>Success Metrics</a:t>
            </a:r>
            <a:endParaRPr lang="en-US" sz="1600" b="1" u="sng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buNone/>
            </a:pPr>
            <a:endParaRPr lang="en-US" sz="1600" b="1" u="sng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buNone/>
            </a:pPr>
            <a:endParaRPr lang="en-US" sz="1600" b="1" u="sng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buNone/>
            </a:pPr>
            <a:endParaRPr lang="en-US" sz="1600" b="1" u="sng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buNone/>
            </a:pPr>
            <a:endParaRPr lang="en-US" sz="1600" b="1" u="sng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buNone/>
            </a:pPr>
            <a:endParaRPr lang="en-US" sz="1600" b="1" u="sng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buNone/>
            </a:pPr>
            <a:endParaRPr lang="en-US" sz="1600" b="1" u="sng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buNone/>
            </a:pPr>
            <a:endParaRPr lang="en-US" sz="1600" b="1" u="sng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buNone/>
            </a:pPr>
            <a:endParaRPr lang="en-US" sz="1600" b="1" u="sng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lang="en-US" sz="1600" b="1" u="sng" dirty="0">
                <a:latin typeface="Arial" panose="020B0604020202090204" pitchFamily="34" charset="0"/>
                <a:cs typeface="Arial" panose="020B0604020202090204" pitchFamily="34" charset="0"/>
              </a:rPr>
              <a:t>Risks and Mitigation Strategies</a:t>
            </a:r>
            <a:endParaRPr lang="en-IN" sz="1600" b="1" u="sng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buNone/>
            </a:pPr>
            <a:endParaRPr lang="en-US" sz="1600" b="1" u="sng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buNone/>
            </a:pPr>
            <a:endParaRPr lang="en-US" sz="1600" b="1" u="sng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buNone/>
            </a:pPr>
            <a:endParaRPr lang="en-IN" sz="1600" u="sng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97466" y="1227666"/>
          <a:ext cx="6824133" cy="22013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29653"/>
                <a:gridCol w="4094480"/>
              </a:tblGrid>
              <a:tr h="366889"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100" spc="-1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Metric</a:t>
                      </a:r>
                      <a:endParaRPr lang="en-IN" sz="1100">
                        <a:effectLst/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100" spc="-1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Target</a:t>
                      </a:r>
                      <a:endParaRPr lang="en-IN" sz="1100">
                        <a:effectLst/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</a:tr>
              <a:tr h="366889"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10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User satisfaction </a:t>
                      </a:r>
                      <a:r>
                        <a:rPr lang="en-US" sz="1100" spc="-1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rating</a:t>
                      </a:r>
                      <a:endParaRPr lang="en-IN" sz="1100">
                        <a:effectLst/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270"/>
                        </a:spcBef>
                        <a:buNone/>
                      </a:pPr>
                      <a:r>
                        <a:rPr lang="en-US" sz="110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³</a:t>
                      </a:r>
                      <a:r>
                        <a:rPr lang="en-US" sz="1100" spc="25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 </a:t>
                      </a:r>
                      <a:r>
                        <a:rPr lang="en-US" sz="1100" spc="-25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90%</a:t>
                      </a:r>
                      <a:endParaRPr lang="en-IN" sz="1100">
                        <a:effectLst/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</a:tr>
              <a:tr h="366889"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10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Monthly active </a:t>
                      </a:r>
                      <a:r>
                        <a:rPr lang="en-US" sz="1100" spc="-1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users</a:t>
                      </a:r>
                      <a:endParaRPr lang="en-IN" sz="1100">
                        <a:effectLst/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270"/>
                        </a:spcBef>
                        <a:buNone/>
                      </a:pPr>
                      <a:r>
                        <a:rPr lang="en-US" sz="110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³</a:t>
                      </a:r>
                      <a:r>
                        <a:rPr lang="en-US" sz="1100" spc="25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 </a:t>
                      </a:r>
                      <a:r>
                        <a:rPr lang="en-US" sz="1100" spc="-1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15,000</a:t>
                      </a:r>
                      <a:endParaRPr lang="en-IN" sz="1100">
                        <a:effectLst/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</a:tr>
              <a:tr h="366889"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10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Budget planner </a:t>
                      </a:r>
                      <a:r>
                        <a:rPr lang="en-US" sz="1100" spc="-1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usage</a:t>
                      </a:r>
                      <a:endParaRPr lang="en-IN" sz="1100">
                        <a:effectLst/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270"/>
                        </a:spcBef>
                        <a:buNone/>
                      </a:pPr>
                      <a:r>
                        <a:rPr lang="en-US" sz="110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³</a:t>
                      </a:r>
                      <a:r>
                        <a:rPr lang="en-US" sz="1100" spc="25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 </a:t>
                      </a:r>
                      <a:r>
                        <a:rPr lang="en-US" sz="110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70% of </a:t>
                      </a:r>
                      <a:r>
                        <a:rPr lang="en-US" sz="1100" spc="-1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users</a:t>
                      </a:r>
                      <a:endParaRPr lang="en-IN" sz="1100">
                        <a:effectLst/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</a:tr>
              <a:tr h="366889"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10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AI prediction </a:t>
                      </a:r>
                      <a:r>
                        <a:rPr lang="en-US" sz="1100" spc="-1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accuracy</a:t>
                      </a:r>
                      <a:endParaRPr lang="en-IN" sz="1100">
                        <a:effectLst/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270"/>
                        </a:spcBef>
                        <a:buNone/>
                      </a:pPr>
                      <a:r>
                        <a:rPr lang="en-US" sz="110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³</a:t>
                      </a:r>
                      <a:r>
                        <a:rPr lang="en-US" sz="1100" spc="25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 </a:t>
                      </a:r>
                      <a:r>
                        <a:rPr lang="en-US" sz="1100" spc="-25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85%</a:t>
                      </a:r>
                      <a:endParaRPr lang="en-IN" sz="1100">
                        <a:effectLst/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</a:tr>
              <a:tr h="366889"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10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Report exports per </a:t>
                      </a:r>
                      <a:r>
                        <a:rPr lang="en-US" sz="1100" spc="-2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user</a:t>
                      </a:r>
                      <a:endParaRPr lang="en-IN" sz="1100">
                        <a:effectLst/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270"/>
                        </a:spcBef>
                        <a:buNone/>
                      </a:pPr>
                      <a:r>
                        <a:rPr lang="en-US" sz="110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³</a:t>
                      </a:r>
                      <a:r>
                        <a:rPr lang="en-US" sz="1100" spc="25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 </a:t>
                      </a:r>
                      <a:r>
                        <a:rPr lang="en-US" sz="110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2 per </a:t>
                      </a:r>
                      <a:r>
                        <a:rPr lang="en-US" sz="1100" spc="-1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month</a:t>
                      </a:r>
                      <a:endParaRPr lang="en-IN" sz="1100" dirty="0">
                        <a:effectLst/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97464" y="4241849"/>
          <a:ext cx="6824133" cy="18033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20205"/>
                <a:gridCol w="1637792"/>
                <a:gridCol w="2866136"/>
              </a:tblGrid>
              <a:tr h="360660"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000" spc="-2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Risk</a:t>
                      </a:r>
                      <a:endParaRPr lang="en-IN" sz="1000">
                        <a:effectLst/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000" spc="-1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Impact</a:t>
                      </a:r>
                      <a:endParaRPr lang="en-IN" sz="1000">
                        <a:effectLst/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000" spc="-1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Mitigation</a:t>
                      </a:r>
                      <a:endParaRPr lang="en-IN" sz="1000">
                        <a:effectLst/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</a:tr>
              <a:tr h="360660"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00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AI predictions may be </a:t>
                      </a:r>
                      <a:r>
                        <a:rPr lang="en-US" sz="1000" spc="-1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inaccurate</a:t>
                      </a:r>
                      <a:endParaRPr lang="en-IN" sz="1000">
                        <a:effectLst/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000" spc="-1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Medium</a:t>
                      </a:r>
                      <a:endParaRPr lang="en-IN" sz="1000">
                        <a:effectLst/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00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Continuous model retraining and data </a:t>
                      </a:r>
                      <a:r>
                        <a:rPr lang="en-US" sz="1000" spc="-1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validatio</a:t>
                      </a:r>
                      <a:endParaRPr lang="en-IN" sz="1000">
                        <a:effectLst/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</a:tr>
              <a:tr h="360660"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00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User data privacy </a:t>
                      </a:r>
                      <a:r>
                        <a:rPr lang="en-US" sz="1000" spc="-1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issues</a:t>
                      </a:r>
                      <a:endParaRPr lang="en-IN" sz="1000">
                        <a:effectLst/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000" spc="-2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High</a:t>
                      </a:r>
                      <a:endParaRPr lang="en-IN" sz="1000">
                        <a:effectLst/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00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Implement end-to-end encryption and GDPR </a:t>
                      </a:r>
                      <a:endParaRPr lang="en-IN" sz="1000">
                        <a:effectLst/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</a:tr>
              <a:tr h="360660"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00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Third-party API </a:t>
                      </a:r>
                      <a:r>
                        <a:rPr lang="en-US" sz="1000" spc="-1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downtime</a:t>
                      </a:r>
                      <a:endParaRPr lang="en-IN" sz="1000">
                        <a:effectLst/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000" spc="-1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Medium</a:t>
                      </a:r>
                      <a:endParaRPr lang="en-IN" sz="1000">
                        <a:effectLst/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00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Add caching and fallback </a:t>
                      </a:r>
                      <a:r>
                        <a:rPr lang="en-US" sz="1000" spc="-1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mechanisms.</a:t>
                      </a:r>
                      <a:endParaRPr lang="en-IN" sz="1000">
                        <a:effectLst/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</a:tr>
              <a:tr h="360660"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00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Low user </a:t>
                      </a:r>
                      <a:r>
                        <a:rPr lang="en-US" sz="1000" spc="-1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retention</a:t>
                      </a:r>
                      <a:endParaRPr lang="en-IN" sz="1000" dirty="0">
                        <a:effectLst/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000" spc="-1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Medium</a:t>
                      </a:r>
                      <a:endParaRPr lang="en-IN" sz="1000">
                        <a:effectLst/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spcBef>
                          <a:spcPts val="335"/>
                        </a:spcBef>
                        <a:buNone/>
                      </a:pPr>
                      <a:r>
                        <a:rPr lang="en-US" sz="100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Personalized financial goals and regular </a:t>
                      </a:r>
                      <a:r>
                        <a:rPr lang="en-US" sz="1000" spc="-10" dirty="0">
                          <a:effectLst/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insight</a:t>
                      </a:r>
                      <a:endParaRPr lang="en-IN" sz="1000" dirty="0">
                        <a:effectLst/>
                        <a:latin typeface="Arial" panose="020B0604020202090204" pitchFamily="34" charset="0"/>
                        <a:ea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Arial" panose="020B0604020202090204" pitchFamily="34" charset="0"/>
                <a:cs typeface="Arial" panose="020B0604020202090204" pitchFamily="34" charset="0"/>
              </a:rPr>
              <a:t>Team Size, Background, Strength /Capability and Resources</a:t>
            </a:r>
            <a:endParaRPr lang="en-IN" sz="20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23080" y="1058385"/>
          <a:ext cx="7816588" cy="4199416"/>
        </p:xfrm>
        <a:graphic>
          <a:graphicData uri="http://schemas.openxmlformats.org/drawingml/2006/table">
            <a:tbl>
              <a:tblPr/>
              <a:tblGrid>
                <a:gridCol w="3908294"/>
                <a:gridCol w="3908294"/>
              </a:tblGrid>
              <a:tr h="343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Category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Details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3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Team Size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 Members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18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Team Members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Saurya (Frontend Developer), Satyaprakash (Backend Developer), Srinivas (Integration &amp; Deployment Engineer)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18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Background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Team of B.Tech students with experience in full-stack development, cloud integration, and AI-based financial applications.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18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Strength / Capability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Skilled in Java, Python, React, Node.js, and API integration. Strong collaboration and problem-solving abilities.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56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Resources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Development tools (VS Code, GitHub), cloud services (Firebase/AWS), and AI frameworks for finance analytics.</a:t>
                      </a:r>
                      <a:endParaRPr lang="en-US" dirty="0"/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-270934" y="-64209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</a:rPr>
              <a:t>Team Overview</a:t>
            </a:r>
            <a:endParaRPr kumimoji="0" lang="en-US" altLang="en-US" sz="7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u="sng" dirty="0">
                <a:latin typeface="Arial" panose="020B0604020202090204" pitchFamily="34" charset="0"/>
                <a:cs typeface="Arial" panose="020B0604020202090204" pitchFamily="34" charset="0"/>
              </a:rPr>
              <a:t>Team Roles and Responsibilities</a:t>
            </a:r>
            <a:endParaRPr lang="en-IN" sz="2400" u="sng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645319" y="3545681"/>
          <a:ext cx="7886700" cy="29718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2300" y="2893219"/>
          <a:ext cx="7886700" cy="29718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2300" y="2893219"/>
          <a:ext cx="7886700" cy="29718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9281" y="1244600"/>
          <a:ext cx="7886700" cy="3380474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</a:tblGrid>
              <a:tr h="330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Member Name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Role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Responsibilities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16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Saurya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Frontend Developer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Designs and develops the user interface using modern web technologies ensuring responsive and user-friendly design.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16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Satyaprakash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Backend Developer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Handles server-side logic, database management, and integration of AI features for financial data processing.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16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Srinivas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Integration &amp; Deployment Engineer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Manages API integration, testing, and deployment of the application to ensure smooth performance and scalability.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atin typeface="Arial" panose="020B0604020202090204" pitchFamily="34" charset="0"/>
                <a:cs typeface="Arial" panose="020B0604020202090204" pitchFamily="34" charset="0"/>
              </a:rPr>
              <a:t>Market Landscape - Market Potential, Competitors</a:t>
            </a:r>
            <a:endParaRPr lang="en-IN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87867" y="812852"/>
          <a:ext cx="8322731" cy="5303152"/>
        </p:xfrm>
        <a:graphic>
          <a:graphicData uri="http://schemas.openxmlformats.org/drawingml/2006/table">
            <a:tbl>
              <a:tblPr/>
              <a:tblGrid>
                <a:gridCol w="4199465"/>
                <a:gridCol w="4123266"/>
              </a:tblGrid>
              <a:tr h="2639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Category</a:t>
                      </a:r>
                      <a:endParaRPr lang="en-IN" sz="1300" dirty="0"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68525" marR="68525" marT="34263" marB="342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Details</a:t>
                      </a:r>
                      <a:endParaRPr lang="en-IN" sz="1300"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68525" marR="68525" marT="34263" marB="342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3600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Market Size (Total Spend)</a:t>
                      </a:r>
                      <a:endParaRPr lang="en-IN" sz="1300"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68525" marR="68525" marT="34263" marB="342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The global </a:t>
                      </a:r>
                      <a:r>
                        <a:rPr lang="en-US" sz="1300" b="1" dirty="0"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personal finance software market</a:t>
                      </a:r>
                      <a:r>
                        <a:rPr lang="en-US" sz="1300" dirty="0"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 was valued at </a:t>
                      </a:r>
                      <a:r>
                        <a:rPr lang="en-US" sz="1300" b="1" dirty="0"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USD 1.5 billion in 2024</a:t>
                      </a:r>
                      <a:r>
                        <a:rPr lang="en-US" sz="1300" dirty="0"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 and is expected to reach </a:t>
                      </a:r>
                      <a:r>
                        <a:rPr lang="en-US" sz="1300" b="1" dirty="0"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USD 2.5 billion by 2030</a:t>
                      </a:r>
                      <a:r>
                        <a:rPr lang="en-US" sz="1300" dirty="0"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, growing at a CAGR of around </a:t>
                      </a:r>
                      <a:r>
                        <a:rPr lang="en-US" sz="1300" b="1" dirty="0"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8.5%</a:t>
                      </a:r>
                      <a:r>
                        <a:rPr lang="en-US" sz="1300" dirty="0"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. </a:t>
                      </a:r>
                      <a:endParaRPr lang="en-US" sz="1300" dirty="0"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68525" marR="68525" marT="34263" marB="342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177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Market Potential (Customer Base)</a:t>
                      </a:r>
                      <a:endParaRPr lang="en-IN" sz="1300"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68525" marR="68525" marT="34263" marB="342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Based on ICP demographics — students, young professionals, and small business owners — the potential market includes </a:t>
                      </a:r>
                      <a:r>
                        <a:rPr lang="en-US" sz="1300" b="1" dirty="0"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over 120 million active users</a:t>
                      </a:r>
                      <a:r>
                        <a:rPr lang="en-US" sz="1300" dirty="0"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 in India who use UPI, digital wallets, and online banking, representing a fast-growing tech-aware audience</a:t>
                      </a:r>
                      <a:endParaRPr lang="en-US" sz="1300" dirty="0"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68525" marR="68525" marT="34263" marB="342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94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Competitors</a:t>
                      </a:r>
                      <a:endParaRPr lang="en-IN" sz="1300"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68525" marR="68525" marT="34263" marB="342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Key competitors include </a:t>
                      </a:r>
                      <a:r>
                        <a:rPr lang="en-US" sz="1300" b="1" dirty="0"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Walnut, Money Manager, ET Money,  </a:t>
                      </a:r>
                      <a:r>
                        <a:rPr lang="en-US" sz="1300" b="1" dirty="0" err="1"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INDmoney</a:t>
                      </a:r>
                      <a:r>
                        <a:rPr lang="en-US" sz="1300" dirty="0"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, and </a:t>
                      </a:r>
                      <a:r>
                        <a:rPr lang="en-US" sz="1300" b="1" dirty="0"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Google Pay Insights</a:t>
                      </a:r>
                      <a:r>
                        <a:rPr lang="en-US" sz="1300" dirty="0"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. These platforms offer expense tracking and investment management but often lack deep AI-driven personalization and automation.</a:t>
                      </a:r>
                      <a:endParaRPr lang="en-US" sz="1300" dirty="0"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68525" marR="68525" marT="34263" marB="342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3600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Uniqueness / Competitive Advantage</a:t>
                      </a:r>
                      <a:endParaRPr lang="en-IN" sz="1300"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68525" marR="68525" marT="34263" marB="342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AI Finance Assistant</a:t>
                      </a:r>
                      <a:r>
                        <a:rPr lang="en-US" sz="1300" dirty="0"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 stands out through: • Smart AI analytics that predict spending patterns and suggest saving strategies. • Unified dashboard combining personal and business finance in real time..</a:t>
                      </a:r>
                      <a:endParaRPr lang="en-US" sz="1300" dirty="0"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68525" marR="68525" marT="34263" marB="342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Arial" panose="020B0604020202090204" pitchFamily="34" charset="0"/>
                <a:cs typeface="Arial" panose="020B0604020202090204" pitchFamily="34" charset="0"/>
              </a:rPr>
              <a:t>Business Model &amp; Strategy</a:t>
            </a:r>
            <a:endParaRPr lang="en-IN" sz="24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812851"/>
            <a:ext cx="8734151" cy="5427082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🧩 </a:t>
            </a:r>
            <a:r>
              <a:rPr lang="en-IN" sz="1700" b="1" dirty="0"/>
              <a:t>Revenue Model</a:t>
            </a:r>
            <a:endParaRPr lang="en-IN" sz="1700" dirty="0"/>
          </a:p>
          <a:p>
            <a:pPr marL="0" indent="0">
              <a:buNone/>
            </a:pPr>
            <a:r>
              <a:rPr lang="en-IN" sz="1700" b="1" dirty="0"/>
              <a:t>Freemium Model:</a:t>
            </a:r>
            <a:r>
              <a:rPr lang="en-IN" sz="1700" dirty="0"/>
              <a:t> Basic features free, premium AI tools under subscription</a:t>
            </a:r>
            <a:endParaRPr lang="en-IN" sz="1700" dirty="0"/>
          </a:p>
          <a:p>
            <a:pPr marL="0" indent="0">
              <a:buNone/>
            </a:pPr>
            <a:r>
              <a:rPr lang="en-IN" sz="1700" b="1" dirty="0"/>
              <a:t>Subscription Plans:</a:t>
            </a:r>
            <a:endParaRPr lang="en-IN" sz="1700" dirty="0"/>
          </a:p>
          <a:p>
            <a:pPr lvl="1"/>
            <a:r>
              <a:rPr lang="en-IN" sz="1700" b="1" dirty="0"/>
              <a:t>Monthly:</a:t>
            </a:r>
            <a:r>
              <a:rPr lang="en-IN" sz="1700" dirty="0"/>
              <a:t> ₹199 / user</a:t>
            </a:r>
            <a:endParaRPr lang="en-IN" sz="1700" dirty="0"/>
          </a:p>
          <a:p>
            <a:pPr lvl="1"/>
            <a:r>
              <a:rPr lang="en-IN" sz="1700" b="1" dirty="0"/>
              <a:t>Annual:</a:t>
            </a:r>
            <a:r>
              <a:rPr lang="en-IN" sz="1700" dirty="0"/>
              <a:t> ₹1,799 / user</a:t>
            </a:r>
            <a:endParaRPr lang="en-IN" sz="1700" dirty="0"/>
          </a:p>
          <a:p>
            <a:pPr marL="0" indent="0">
              <a:buNone/>
            </a:pPr>
            <a:r>
              <a:rPr lang="en-IN" sz="1700" b="1" dirty="0"/>
              <a:t>Enterprise/B2B Licensing:</a:t>
            </a:r>
            <a:r>
              <a:rPr lang="en-IN" sz="1700" dirty="0"/>
              <a:t> For financial advisors &amp; SMEs</a:t>
            </a:r>
            <a:endParaRPr lang="en-IN" sz="1700" dirty="0"/>
          </a:p>
          <a:p>
            <a:pPr marL="0" indent="0">
              <a:buNone/>
            </a:pPr>
            <a:r>
              <a:rPr lang="en-IN" sz="1700" b="1" dirty="0"/>
              <a:t>Ad-Based Revenue:</a:t>
            </a:r>
            <a:r>
              <a:rPr lang="en-IN" sz="1700" dirty="0"/>
              <a:t> From partner fintech integrations and insights dashboards</a:t>
            </a:r>
            <a:endParaRPr lang="en-IN" sz="1700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8650" y="3601879"/>
          <a:ext cx="8095424" cy="2273988"/>
        </p:xfrm>
        <a:graphic>
          <a:graphicData uri="http://schemas.openxmlformats.org/drawingml/2006/table">
            <a:tbl>
              <a:tblPr/>
              <a:tblGrid>
                <a:gridCol w="2023856"/>
                <a:gridCol w="2023856"/>
                <a:gridCol w="2023856"/>
                <a:gridCol w="2023856"/>
              </a:tblGrid>
              <a:tr h="378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Year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Estimated Users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Revenue (INR)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Growth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8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Year 1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5,000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₹12 Lakh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–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8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Year 2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20,000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₹60 Lakh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↑ 5x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8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Year 3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60,000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₹2.1 Crore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↑ 3.5x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8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Year 4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1.5 Lakh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₹5.4 Crore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↑ 2.5x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8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Year 5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 Lakh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₹10+ Crore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↑ 2x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Arial" panose="020B0604020202090204" pitchFamily="34" charset="0"/>
                <a:cs typeface="Arial" panose="020B0604020202090204" pitchFamily="34" charset="0"/>
              </a:rPr>
              <a:t>Business Model &amp; Strategy</a:t>
            </a:r>
            <a:endParaRPr lang="en-IN" sz="24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933" y="905934"/>
            <a:ext cx="8627534" cy="541866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900" b="1" dirty="0"/>
              <a:t> Business Model</a:t>
            </a:r>
            <a:endParaRPr lang="en-IN" sz="1900" dirty="0"/>
          </a:p>
          <a:p>
            <a:r>
              <a:rPr lang="en-IN" sz="1900" b="1" dirty="0"/>
              <a:t>B2C:</a:t>
            </a:r>
            <a:r>
              <a:rPr lang="en-IN" sz="1900" dirty="0"/>
              <a:t> Individual users (students, professionals) subscribe directly</a:t>
            </a:r>
            <a:endParaRPr lang="en-IN" sz="1900" dirty="0"/>
          </a:p>
          <a:p>
            <a:r>
              <a:rPr lang="en-IN" sz="1900" b="1" dirty="0"/>
              <a:t>B2B:</a:t>
            </a:r>
            <a:r>
              <a:rPr lang="en-IN" sz="1900" dirty="0"/>
              <a:t> Partner with fintech firms, banks, and business service platforms</a:t>
            </a:r>
            <a:endParaRPr lang="en-IN" sz="1900" dirty="0"/>
          </a:p>
          <a:p>
            <a:r>
              <a:rPr lang="en-IN" sz="1900" b="1" dirty="0"/>
              <a:t>AI Insights API:</a:t>
            </a:r>
            <a:r>
              <a:rPr lang="en-IN" sz="1900" dirty="0"/>
              <a:t> Offered to financial startups for white-label solutions</a:t>
            </a:r>
            <a:endParaRPr lang="en-IN" sz="1900" dirty="0"/>
          </a:p>
          <a:p>
            <a:pPr marL="0" indent="0">
              <a:buNone/>
            </a:pPr>
            <a:br>
              <a:rPr lang="en-IN" sz="1900" dirty="0"/>
            </a:br>
            <a:endParaRPr lang="en-IN" sz="1900" dirty="0"/>
          </a:p>
          <a:p>
            <a:pPr marL="0" indent="0">
              <a:buNone/>
            </a:pPr>
            <a:r>
              <a:rPr lang="en-IN" sz="1900" b="1" dirty="0"/>
              <a:t> Channels</a:t>
            </a:r>
            <a:endParaRPr lang="en-IN" sz="1900" dirty="0"/>
          </a:p>
          <a:p>
            <a:r>
              <a:rPr lang="en-IN" sz="1900" b="1" dirty="0"/>
              <a:t>Online App Stores:</a:t>
            </a:r>
            <a:r>
              <a:rPr lang="en-IN" sz="1900" dirty="0"/>
              <a:t> Google Play, iOS</a:t>
            </a:r>
            <a:endParaRPr lang="en-IN" sz="1900" dirty="0"/>
          </a:p>
          <a:p>
            <a:r>
              <a:rPr lang="en-IN" sz="1900" b="1" dirty="0"/>
              <a:t>Website Subscription Portal</a:t>
            </a:r>
            <a:endParaRPr lang="en-IN" sz="1900" dirty="0"/>
          </a:p>
          <a:p>
            <a:r>
              <a:rPr lang="en-IN" sz="1900" b="1" dirty="0"/>
              <a:t>Corporate Partnerships</a:t>
            </a:r>
            <a:r>
              <a:rPr lang="en-IN" sz="1900" dirty="0"/>
              <a:t> (banks, educational institutes)</a:t>
            </a:r>
            <a:endParaRPr lang="en-IN" sz="1900" dirty="0"/>
          </a:p>
          <a:p>
            <a:r>
              <a:rPr lang="en-IN" sz="1900" b="1" dirty="0"/>
              <a:t>Digital Marketing:</a:t>
            </a:r>
            <a:r>
              <a:rPr lang="en-IN" sz="1900" dirty="0"/>
              <a:t> Influencer and content-based promotions</a:t>
            </a:r>
            <a:endParaRPr lang="en-IN" sz="1900" dirty="0"/>
          </a:p>
          <a:p>
            <a:pPr marL="0" indent="0">
              <a:buNone/>
            </a:pPr>
            <a:br>
              <a:rPr lang="en-IN" sz="1900" dirty="0"/>
            </a:br>
            <a:endParaRPr lang="en-IN" sz="1900" dirty="0"/>
          </a:p>
          <a:p>
            <a:pPr marL="0" indent="0">
              <a:buNone/>
            </a:pPr>
            <a:r>
              <a:rPr lang="en-IN" sz="1900" b="1" dirty="0"/>
              <a:t> Revenue Sharing</a:t>
            </a:r>
            <a:endParaRPr lang="en-IN" sz="1900" dirty="0"/>
          </a:p>
          <a:p>
            <a:r>
              <a:rPr lang="en-IN" sz="1900" b="1" dirty="0"/>
              <a:t>App Store:</a:t>
            </a:r>
            <a:r>
              <a:rPr lang="en-IN" sz="1900" dirty="0"/>
              <a:t> 70% company / 30% platform fee</a:t>
            </a:r>
            <a:endParaRPr lang="en-IN" sz="1900" dirty="0"/>
          </a:p>
          <a:p>
            <a:r>
              <a:rPr lang="en-IN" sz="1900" b="1" dirty="0"/>
              <a:t>Enterprise Deals:</a:t>
            </a:r>
            <a:r>
              <a:rPr lang="en-IN" sz="1900" dirty="0"/>
              <a:t> 80% company / 20% channel partner</a:t>
            </a:r>
            <a:endParaRPr lang="en-IN" sz="1900" dirty="0"/>
          </a:p>
          <a:p>
            <a:r>
              <a:rPr lang="en-IN" sz="1900" b="1" dirty="0"/>
              <a:t>Ad &amp; Affiliate Revenue:</a:t>
            </a:r>
            <a:r>
              <a:rPr lang="en-IN" sz="1900" dirty="0"/>
              <a:t> Shared 60–40 with partner brands</a:t>
            </a:r>
            <a:endParaRPr lang="en-IN" sz="1900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Arial" panose="020B0604020202090204" pitchFamily="34" charset="0"/>
                <a:cs typeface="Arial" panose="020B0604020202090204" pitchFamily="34" charset="0"/>
              </a:rPr>
              <a:t> Required Support and Regulation</a:t>
            </a:r>
            <a:endParaRPr lang="en-IN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43214" y="812851"/>
          <a:ext cx="7886700" cy="331470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84268" y="1016847"/>
            <a:ext cx="8398934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cs typeface="+mn-lt"/>
              </a:rPr>
              <a:t>🟩 </a:t>
            </a:r>
            <a:br>
              <a:rPr lang="en-IN" sz="1400" dirty="0">
                <a:cs typeface="+mn-lt"/>
              </a:rPr>
            </a:br>
            <a:endParaRPr lang="en-IN" dirty="0">
              <a:cs typeface="+mn-lt"/>
            </a:endParaRPr>
          </a:p>
          <a:p>
            <a:r>
              <a:rPr lang="en-IN" dirty="0">
                <a:cs typeface="+mn-lt"/>
              </a:rPr>
              <a:t>🧩 Required Support</a:t>
            </a:r>
            <a:endParaRPr lang="en-IN" dirty="0">
              <a:cs typeface="+mn-lt"/>
            </a:endParaRPr>
          </a:p>
          <a:p>
            <a:r>
              <a:rPr lang="en-IN" dirty="0">
                <a:cs typeface="+mn-lt"/>
              </a:rPr>
              <a:t>💻 Technical: Access to AI APIs, cloud hosting credits, and development tools</a:t>
            </a:r>
            <a:endParaRPr lang="en-IN" dirty="0">
              <a:cs typeface="+mn-lt"/>
            </a:endParaRPr>
          </a:p>
          <a:p>
            <a:r>
              <a:rPr lang="en-IN" dirty="0">
                <a:cs typeface="+mn-lt"/>
              </a:rPr>
              <a:t>💵 Financial: Seed funding or incubation grants for scaling the MVP</a:t>
            </a:r>
            <a:endParaRPr lang="en-IN" dirty="0">
              <a:cs typeface="+mn-lt"/>
            </a:endParaRPr>
          </a:p>
          <a:p>
            <a:r>
              <a:rPr lang="en-IN" dirty="0">
                <a:cs typeface="+mn-lt"/>
              </a:rPr>
              <a:t>🧠 Mentorship: Guidance from fintech and startup ecosystem experts</a:t>
            </a:r>
            <a:endParaRPr lang="en-IN" dirty="0">
              <a:cs typeface="+mn-lt"/>
            </a:endParaRPr>
          </a:p>
          <a:p>
            <a:r>
              <a:rPr lang="en-IN" dirty="0">
                <a:cs typeface="+mn-lt"/>
              </a:rPr>
              <a:t>🏢 Incubation: Workspace, testing environment, and networking support</a:t>
            </a:r>
            <a:endParaRPr lang="en-IN" dirty="0">
              <a:cs typeface="+mn-lt"/>
            </a:endParaRPr>
          </a:p>
          <a:p>
            <a:endParaRPr lang="en-IN" dirty="0">
              <a:cs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13860</Words>
  <Application>WPS Sheets</Application>
  <PresentationFormat>On-screen Show (4:3)</PresentationFormat>
  <Paragraphs>659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2" baseType="lpstr">
      <vt:lpstr>Arial</vt:lpstr>
      <vt:lpstr>SimSun</vt:lpstr>
      <vt:lpstr>Wingdings</vt:lpstr>
      <vt:lpstr>Algerian</vt:lpstr>
      <vt:lpstr>苹方-简</vt:lpstr>
      <vt:lpstr>Calibri</vt:lpstr>
      <vt:lpstr>Helvetica Neue</vt:lpstr>
      <vt:lpstr>Calibri Light</vt:lpstr>
      <vt:lpstr>Microsoft YaHei</vt:lpstr>
      <vt:lpstr>汉仪旗黑</vt:lpstr>
      <vt:lpstr>Arial Unicode MS</vt:lpstr>
      <vt:lpstr>Malgun Gothic</vt:lpstr>
      <vt:lpstr>Apple SD Gothic Neo</vt:lpstr>
      <vt:lpstr>Wingdings</vt:lpstr>
      <vt:lpstr>汉仪书宋二KW</vt:lpstr>
      <vt:lpstr>Apple Color Emoji</vt:lpstr>
      <vt:lpstr>Times New Roman</vt:lpstr>
      <vt:lpstr>Galvji</vt:lpstr>
      <vt:lpstr>5_Office Theme</vt:lpstr>
      <vt:lpstr>&lt;Team #15&gt;  AI-Finance Platform  Transform the way you manage, invest, and grow — powered by AI. </vt:lpstr>
      <vt:lpstr>Problem Statement</vt:lpstr>
      <vt:lpstr>Product/ Solution - Innovation</vt:lpstr>
      <vt:lpstr>Product/ Solution - Innovation</vt:lpstr>
      <vt:lpstr>Product/ Solution - Innovation</vt:lpstr>
      <vt:lpstr>Product/ Solution - Readiness Level</vt:lpstr>
      <vt:lpstr>Ideal Customer Profile </vt:lpstr>
      <vt:lpstr> Customer Persona </vt:lpstr>
      <vt:lpstr>Customer Persona</vt:lpstr>
      <vt:lpstr>Customer Persona</vt:lpstr>
      <vt:lpstr>Customer Interview Insights </vt:lpstr>
      <vt:lpstr>PROJECT PAGE</vt:lpstr>
      <vt:lpstr>PROJECT PAGE</vt:lpstr>
      <vt:lpstr> Product Requirement Specifications </vt:lpstr>
      <vt:lpstr>Product Requirement Specifications</vt:lpstr>
      <vt:lpstr>Product Requirement Specifications</vt:lpstr>
      <vt:lpstr>Product Requirement Specifications</vt:lpstr>
      <vt:lpstr>Team Size, Background, Strength /Capability and Resources</vt:lpstr>
      <vt:lpstr>Team Roles and Responsibilities</vt:lpstr>
      <vt:lpstr>Market Landscape - Market Potential, Competitors</vt:lpstr>
      <vt:lpstr>Business Model &amp; Strategy</vt:lpstr>
      <vt:lpstr>Business Model &amp; Strategy</vt:lpstr>
      <vt:lpstr>Total Budget, Required Support and Regulation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template of PPT -  Application for Pitching</dc:title>
  <dc:creator>Admin</dc:creator>
  <cp:lastModifiedBy>Satyaprakash Paikaray</cp:lastModifiedBy>
  <cp:revision>5</cp:revision>
  <dcterms:created xsi:type="dcterms:W3CDTF">2025-12-12T14:47:01Z</dcterms:created>
  <dcterms:modified xsi:type="dcterms:W3CDTF">2025-12-12T14:47:01Z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671D23AD98464F5AE52A3C69917141C6_43</vt:lpwstr>
  </property>
  <property fmtid="{D5CDD505-2E9C-101B-9397-08002B2CF9AE}" pid="3" name="KSOProductBuildVer">
    <vt:lpwstr>1033-12.1.23152.23152</vt:lpwstr>
  </property>
</Properties>
</file>